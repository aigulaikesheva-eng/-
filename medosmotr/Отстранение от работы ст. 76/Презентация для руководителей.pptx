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чем" id="{39ff9ed0-4c13-92c3-7956-17f706ea828d}">
          <p14:sldIdLst>
            <p14:sldId id="256"/>
            <p14:sldId id="257"/>
          </p14:sldIdLst>
        </p14:section>
        <p14:section name="Профилактика и основания" id="{954ee82e-8c61-31c5-656a-9f323fc7273e}">
          <p14:sldIdLst>
            <p14:sldId id="258"/>
            <p14:sldId id="259"/>
          </p14:sldIdLst>
        </p14:section>
        <p14:section name="Порядок действий" id="{2c252d8c-28e9-e070-2141-794db7f2c9b8}">
          <p14:sldIdLst>
            <p14:sldId id="260"/>
            <p14:sldId id="261"/>
          </p14:sldIdLst>
        </p14:section>
        <p14:section name="Табель, запреты, оплата" id="{85a7a025-f1c2-4164-39ad-99dbd3962fdc}">
          <p14:sldIdLst>
            <p14:sldId id="262"/>
            <p14:sldId id="263"/>
            <p14:sldId id="264"/>
          </p14:sldIdLst>
        </p14:section>
        <p14:section name="Итог" id="{9e936471-4172-8027-452d-43d3cae216be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встречи — чтобы каждый руководитель знал: работника без действующего заключения медосмотра к работе не допускаем ни на час, и понимал, какие документы оформить в тот же день. Памятка и формы Ф-1 — Ф-11 раздаются после встречи.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Суды, как правило, считают нарушение по каждому работнику — пять человек без медосмотра на участке означают пять штрафов. Плюс дисциплинарная ответственность руководителя за нарушение требований охраны труда.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Срок 30 дней — внутренняя рекомендация ООТиПБ, а не норма закона. Если руководитель не отпустил работника на медосмотр из-за загрузки участка, вина будет на работодателе, и отстранение придётся оплачивать.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 об оплате, копия направления или устное «прошёл, заключение потом» — не основание для допуска. Основание только одно: медицинское заключение без противопоказаний, переданное в ООТиПБ.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 — шаги 1 и 3: недопуск и служебная записка в тот же день. На объяснения у работника 2 рабочих дня (ст. 193 ТК РФ), но приказ об отстранении издаётся сразу, не дожидаясь 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Допуск к работе — только по приказу о допуске, а не по факту, что работник принёс заключение мастеру. Внеплановый инструктаж — по Правилам обучения по охране труда (постановление Правительства РФ № 2464).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Вариант выбирает не руководитель, а приказ — по документам: уведомление, направление, объяснения. Руководитель только ставит код, указанный в приказе.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Перевод на другую работу возможен только с письменного согласия работника, через отдел кадров и после проверки ООТиПБ. Отстранение — не дисциплинарное взыскание; вопрос о взыскании решается отдельно по ст. 192–193 ТК РФ.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об оплате принимается приказом, а не руководителем. Но факты для этого решения собирает именно руководитель — поэтому служебная записка должна быть конкретной: даты, номера уведомления и направления, что сказал работник.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Тот же чек-лист есть в конце печатной памятки. Ответственные за медосмотры на площадках «Машково» и «Руднево» указаны в памятке, раздел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Ответить на вопросы. Раздать памятку под подпись в листе ознакомления.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«Авиационные интерьеры-СН» · ООТиПБ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«Авиационные интерьеры-СН» · ООТиПБ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rgbClr val="B54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РУКОВОДИТЕЛЮ ПОДРАЗДЕЛЕНИЯ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Работник без медосмотра к работе не допускается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недопуска и отстранения от работы — абз. 4 ч. 1 ст. 76 ТК РФ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577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«Авиационные интерьеры-СН»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охраны труда и промышленной безопасности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5897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ГЛАВНОЕ ПРАВИЛО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действующего заключения — нет допуска ни на час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Недопуск — обязанность работодателя (ст. 76, 214 ТК РФ). На участке её исполняет непосредственный руководитель. Это касается и обязательного психиатрического освидетельствования.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110–130 тыс. ₽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404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для организации, ч. 3 ст. 5.27.1 КоАП РФ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8218" y="28346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15–25 тыс. ₽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38404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для должностного лица — руководителя, допустившего работника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283464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7837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143 УК РФ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447837" y="38404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несчастном случае — вплоть до уголовной ответственности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ПРОФИЛАКТИКА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 заранее, чтобы не отстранять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D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493776" cy="493776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9164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Знать сроки медосмотров своих работников — график и реестр ведёт ООТиПБ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DF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79192"/>
            <a:ext cx="493776" cy="493776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79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56032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30 дней до конца срока заключения проверить уведомление (Ф-1) и дату явки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D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47872"/>
            <a:ext cx="493776" cy="493776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47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42900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Отпустить работника на медосмотр — средний заработок сохраняется (ст. 185 ТК РФ)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D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16552"/>
            <a:ext cx="493776" cy="493776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416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29768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и переведённых на другие вредные факторы — не допускать до предварительного медосмотра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D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285232"/>
            <a:ext cx="493776" cy="493776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285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16636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Болезнь, отпуск, командировка в период медосмотра — сразу сообщить в ООТиПБ для переноса даты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ОСНОВАНИЯ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работник не допускается к работе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Истёк срок заключения, новое не предоставлено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675120" cy="0"/>
          </a:xfrm>
          <a:prstGeom prst="line">
            <a:avLst/>
          </a:prstGeom>
          <a:noFill/>
          <a:ln w="12700">
            <a:solidFill>
              <a:srgbClr val="DCD6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7860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явился на медосмотр в установленный срок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6675120" cy="0"/>
          </a:xfrm>
          <a:prstGeom prst="line">
            <a:avLst/>
          </a:prstGeom>
          <a:noFill/>
          <a:ln w="12700">
            <a:solidFill>
              <a:srgbClr val="DCD6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198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Отказался от медосмотра или отдельных обследований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151376"/>
            <a:ext cx="6675120" cy="0"/>
          </a:xfrm>
          <a:prstGeom prst="line">
            <a:avLst/>
          </a:prstGeom>
          <a:noFill/>
          <a:ln w="12700">
            <a:solidFill>
              <a:srgbClr val="DCD6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6110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 не выдано: не все обследования, дообследование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6675120" cy="0"/>
          </a:xfrm>
          <a:prstGeom prst="line">
            <a:avLst/>
          </a:prstGeom>
          <a:noFill/>
          <a:ln w="12700">
            <a:solidFill>
              <a:srgbClr val="DCD6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10235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пройдено обязательное психиатрическое освидетельствование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962095" cy="4023360"/>
          </a:xfrm>
          <a:prstGeom prst="roundRect">
            <a:avLst>
              <a:gd name="adj" fmla="val 2769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205740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78892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Противопоказания — это другая статья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703320"/>
            <a:ext cx="32305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заключение выявило противопоказания, действует ст. 73 ТК РФ. Работника тоже не допускать и сразу сообщить в ООТиПБ и отдел кадров.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ПОРЯДОК ДЕЙСТВИЙ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 выявления: шаги 1–5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949440"/>
                <a:gridCol w="2103120"/>
                <a:gridCol w="14932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 руководителя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допустить к работе: не выдавать задание и наряд-допуск, зафиксировать время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Немедленно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Сообщить в ООТиПБ и отдел кадров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течение 1 часа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Составить служебную записку о непрохождении медосмотра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тот же день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Ф-3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Участвовать в комиссии по акту о непрохождении медосмотра (не менее 3 человек)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тот же день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Ф-4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Содействовать вручению уведомления о даче объяснений (вручает отдел кадров)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тот же день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Ф-5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ПОРЯДОК ДЕЙСТВИЙ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Отстранение и допуск: шаги 6–9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949440"/>
                <a:gridCol w="2103120"/>
                <a:gridCol w="14932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 руководителя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6F4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Ознакомиться с приказом об отстранении; при отказе работника расписаться — подписать акт как свидетель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день приказа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Ф-8, Ф-9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допускать до приказа о допуске; при необходимости перераспределить работу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Весь период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Отмечать в табеле код, указанный в приказе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Ежедневно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Т-12 / Т-13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приказа о допуске: при перерыве в работе более 60 дней — внеплановый инструктаж, затем допуск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начала работы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Ф-10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E8ED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0749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Отстранение — до предоставления заключения. При переносе даты медосмотра новый приказ не нужен.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ТАБЕЛЬ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в табеле — строго по приказу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4328" cy="3291840"/>
          </a:xfrm>
          <a:prstGeom prst="roundRect">
            <a:avLst>
              <a:gd name="adj" fmla="val 3333"/>
            </a:avLst>
          </a:prstGeom>
          <a:solidFill>
            <a:srgbClr val="FFFD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А · ПО ВИНЕ РАБОТНИКА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 / 35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0332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не начисляется. Период не идёт в стаж для отпуска (ст. 121 ТК РФ).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364328" cy="3291840"/>
          </a:xfrm>
          <a:prstGeom prst="roundRect">
            <a:avLst>
              <a:gd name="adj" fmla="val 3333"/>
            </a:avLst>
          </a:prstGeom>
          <a:solidFill>
            <a:srgbClr val="FFFD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90208" y="201168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 Б · НЕ ПО ВИНЕ РАБОТНИКА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251460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/ 36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370332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D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как за простой — не менее 2/3 среднего заработка (ч. 3 ст. 76, ст. 157 ТК РФ).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Нельзя: </a:t>
            </a:r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ставить «ПР» (прогул), если работник явился на работу, но не допущен.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ТИПОВЫЕ ОШИБКИ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руководителю делать запрещено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4328" cy="1143000"/>
          </a:xfrm>
          <a:prstGeom prst="roundRect">
            <a:avLst>
              <a:gd name="adj" fmla="val 9600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84832"/>
            <a:ext cx="457200" cy="457200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Допускать «под честное слово», по копии направления или по чеку об оплате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364328" cy="1143000"/>
          </a:xfrm>
          <a:prstGeom prst="roundRect">
            <a:avLst>
              <a:gd name="adj" fmla="val 9600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2084832"/>
            <a:ext cx="457200" cy="457200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93128" y="17373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Отправлять домой без служебной записки и акта — недопуск оформляется в тот же день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64328" cy="1143000"/>
          </a:xfrm>
          <a:prstGeom prst="roundRect">
            <a:avLst>
              <a:gd name="adj" fmla="val 9600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56432"/>
            <a:ext cx="457200" cy="457200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1089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Ставить в табель «ПР» (прогул), если работник явился, но не допущен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8728" y="3108960"/>
            <a:ext cx="5364328" cy="1143000"/>
          </a:xfrm>
          <a:prstGeom prst="roundRect">
            <a:avLst>
              <a:gd name="adj" fmla="val 9600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3048" y="3456432"/>
            <a:ext cx="457200" cy="457200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304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93128" y="31089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Оформлять отстранение «задним числом»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364328" cy="1143000"/>
          </a:xfrm>
          <a:prstGeom prst="roundRect">
            <a:avLst>
              <a:gd name="adj" fmla="val 9600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828032"/>
            <a:ext cx="457200" cy="457200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4805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Требовать заявление на отпуск без сохранения зарплаты вместо отстранения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4480560"/>
            <a:ext cx="5364328" cy="1143000"/>
          </a:xfrm>
          <a:prstGeom prst="roundRect">
            <a:avLst>
              <a:gd name="adj" fmla="val 9600"/>
            </a:avLst>
          </a:prstGeom>
          <a:solidFill>
            <a:srgbClr val="FFFDF9"/>
          </a:solidFill>
          <a:ln w="9525">
            <a:solidFill>
              <a:srgbClr val="DCD6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3048" y="4828032"/>
            <a:ext cx="457200" cy="457200"/>
          </a:xfrm>
          <a:prstGeom prst="ellipse">
            <a:avLst/>
          </a:prstGeom>
          <a:solidFill>
            <a:srgbClr val="B5400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3048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93128" y="44805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Самому переводить на другую работу или решать вопрос об оплате — только через отдел кадров и приказ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ОПЛАТА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служебной записки зависит, будет ли оплата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6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Укажите в записке (Ф-3):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2F5D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7744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Ознакомлен ли работник с уведомлением (Ф-1), выдано ли направление (Ф-2)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2F5D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38328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причины неявки назвал работник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411480" cy="411480"/>
          </a:xfrm>
          <a:prstGeom prst="ellipse">
            <a:avLst/>
          </a:prstGeom>
          <a:solidFill>
            <a:srgbClr val="2F5D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3891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мешала ли организация работы: смена, командировка, отказ отпустить с участка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8728" y="1737360"/>
            <a:ext cx="5364328" cy="3931920"/>
          </a:xfrm>
          <a:prstGeom prst="roundRect">
            <a:avLst>
              <a:gd name="adj" fmla="val 2791"/>
            </a:avLst>
          </a:prstGeom>
          <a:solidFill>
            <a:srgbClr val="1421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690208" y="205740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020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690208" y="28346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отпустили на медосмотр — вина работодателя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690208" y="3886200"/>
            <a:ext cx="454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Отстранение оплачивается как простой: не менее 2/3 среднего заработка (ч. 3 ст. 76, ст. 157 ТК РФ).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4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ЧЕК-ЛИСТ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себя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3736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Работник не допущен, время зафиксировано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87168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ООТиПБ и отдел кадров уведомлены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236976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Служебная записка (Ф-3) передана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599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986784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(Ф-4) подписан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78728" y="18105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27368" y="173736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о даче объяснений (Ф-5) вручено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8728" y="25603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7368" y="2487168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приказом об отстранении (Ф-8) ознакомлен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78728" y="33101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7368" y="3236976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Табель заполнен по коду из приказа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78728" y="40599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DF9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7368" y="3986784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приказа о допуске (Ф-10) — инструктаж при необходимости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E8ED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93776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ООТиПБ: </a:t>
            </a:r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тел. [____], каб. [__]          </a:t>
            </a:r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кадров: </a:t>
            </a:r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тел. [____], каб. [__]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Сомневаетесь в допуске — не допускайте и звоните в ООТиПБ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B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 и формы Ф-1 — Ф-11 — в пакете документов ООТиПБ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ОТиПБ">
  <a:themeElements>
    <a:clrScheme name="ООТиПБ">
      <a:dk1>
        <a:srgbClr val="14213D"/>
      </a:dk1>
      <a:lt1>
        <a:srgbClr val="FFFDF9"/>
      </a:lt1>
      <a:dk2>
        <a:srgbClr val="3D4A60"/>
      </a:dk2>
      <a:lt2>
        <a:srgbClr val="F6F4EF"/>
      </a:lt2>
      <a:accent1>
        <a:srgbClr val="B5400C"/>
      </a:accent1>
      <a:accent2>
        <a:srgbClr val="2F5D8A"/>
      </a:accent2>
      <a:accent3>
        <a:srgbClr val="F2A65A"/>
      </a:accent3>
      <a:accent4>
        <a:srgbClr val="E8EDF2"/>
      </a:accent4>
      <a:accent5>
        <a:srgbClr val="5A6478"/>
      </a:accent5>
      <a:accent6>
        <a:srgbClr val="DCD6CB"/>
      </a:accent6>
      <a:hlink>
        <a:srgbClr val="2F5D8A"/>
      </a:hlink>
      <a:folHlink>
        <a:srgbClr val="5A6478"/>
      </a:folHlink>
    </a:clrScheme>
    <a:fontScheme name="ООТиПБ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Отстранение без медосмотра: руководителям</dc:title>
  <dc:subject>PptxGenJS Presentation</dc:subject>
  <dc:creator>ООТиПБ</dc:creator>
  <cp:lastModifiedBy>ООТиПБ</cp:lastModifiedBy>
  <cp:revision>1</cp:revision>
  <dcterms:created xsi:type="dcterms:W3CDTF">2026-10-26T06:32:11Z</dcterms:created>
  <dcterms:modified xsi:type="dcterms:W3CDTF">2026-10-26T06:32:11Z</dcterms:modified>
</cp:coreProperties>
</file>