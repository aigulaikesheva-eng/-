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EA60C-B2E1-4D26-B941-321CC0566B11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BD4D4-3CA4-485D-A2A9-95BEF9E94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04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BD4D4-3CA4-485D-A2A9-95BEF9E94AE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110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9CEB4-0FCA-E89A-EC8A-FB9A47AD7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5F8BCF-41BE-FA2A-2997-1911F7E02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118C10-1577-53FD-5109-26728DB6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91316B-C8E9-F672-19EA-39150FD9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93EBAB-524F-915D-565B-86EB288F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0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97CB8-577D-37E6-3F30-98101D24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BF84C-D605-CF08-141A-A725F8785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68B171-E84E-DEA0-CB18-FC563D71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88EDBC-180A-0108-5843-D2621379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9FAF7C-01AA-9270-312F-4783571A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33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CC439-D34A-79D6-2A35-936CFFD7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FA390A-5A8E-759A-4EAF-776BF4930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291E1-9D10-700C-560F-D8178AAB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DAFB5F-394A-BBE7-3FE3-D98537AD4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AFE0E5-164D-D2BD-B317-2E6EBB18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65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764B6-97C5-F288-AC07-E8673DA5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178A2-5027-41A4-47B8-CD1B1A5D0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ECC770-6D3D-5B1A-363C-98EFF4FF6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46BCE9-C6BB-C22C-640F-C94E902A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CCCCCC-E2E4-3735-AD52-1CFC75B0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0E0CE3-0FFC-1115-374D-C58308F8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26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420CB-EEB0-686A-07FC-CFC1C4D7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15FB8B-16FE-8C8F-A4A8-1A18E8F63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5BCA18-8A58-2710-03CA-02DF62E3B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711F88-1792-F4BC-12E7-5C669ABE9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B100C6-17E8-647E-3628-E916733DA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6DC218E-C7A3-EED9-4C59-A7368E99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742492-7A7D-F36C-7DDF-BA566E39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1004BF9-1765-5CEA-0E0B-368CB0D4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45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A87D8-31A8-903A-453E-34D0520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D1431D-5250-DFC2-F47F-11CBFC13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885153-5585-926B-A5E9-BC699D2D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CCB0E1-34A4-B685-8BB6-3C61E42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59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C40EDF-2152-AB97-6F5A-CF2BF9B7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933C32-BC82-596C-3A32-7A4D0DC6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51802A-DD5E-8262-1020-11B0D30A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51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34DCA-C26C-050E-B5AB-AD178808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40D6F-305F-874C-FBD2-AFAC1C560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BD96FA-67D9-CF44-7168-9EBF24570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C10820-5DC2-22FB-A99B-EEC270A7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914D53-43ED-A2FB-26D0-51E74D7D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D90CA1-154D-8C6A-9CFC-6DE17E79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37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FC623-E85B-2544-2A3B-D0FDAD3B4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E21434-4260-8C50-1DB8-CC2315DFAFB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561F4C-BD83-0542-2C74-E50C0B09D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1599AD-4D29-C322-EB87-1FAB79E9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7288D6-C1CB-0394-7884-F29B0A87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B80088-443E-F3D1-2912-4FC4ABF5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90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0D71E-501D-101D-E32B-F1FEC8BA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BE32DA-F35E-3359-2951-0B54535CE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6A313A-41DF-2808-DF00-A5282FD1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318C1F-FCBA-9825-1F21-B55F2EDC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39C5EA-29C7-5411-D9B9-1B1B19E1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9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405E66-6791-9CAD-1D98-704B39628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1C6830-83BF-68CE-3276-BB3811C2D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31626D-2D98-FD3A-6048-322CA77E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978B0C-6F96-CFCA-8792-CBC94C5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55335A-5F5A-CA21-75AC-DEB38255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7229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DC973-6334-A908-31EB-4EF09378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421B55-6D6A-360C-312E-2452855D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86C6E0-ABE4-55C3-0EED-93EF38332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E0A22-F2B1-4238-84F3-D7B6781DBC85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FB38F5-1CDD-C1AF-93AE-6711F36E7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376082-758C-BFF8-D9BE-497CDECF8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30DBD-3571-406B-A2C1-5D8F94DFD4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90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65738B-AEE5-46F5-AADF-56E49ECEAD2A}"/>
              </a:ext>
            </a:extLst>
          </p:cNvPr>
          <p:cNvSpPr txBox="1"/>
          <p:nvPr/>
        </p:nvSpPr>
        <p:spPr>
          <a:xfrm>
            <a:off x="6660032" y="56561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Генеральный директор или лицо его замещающее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2E7A2-3F23-7516-7063-C88FA38EAAA9}"/>
              </a:ext>
            </a:extLst>
          </p:cNvPr>
          <p:cNvSpPr txBox="1"/>
          <p:nvPr/>
        </p:nvSpPr>
        <p:spPr>
          <a:xfrm>
            <a:off x="6219731" y="1879861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 по персоналу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4A4289C4-1BE9-BB47-272A-89DA22DAD8F3}"/>
              </a:ext>
            </a:extLst>
          </p:cNvPr>
          <p:cNvCxnSpPr>
            <a:cxnSpLocks/>
          </p:cNvCxnSpPr>
          <p:nvPr/>
        </p:nvCxnSpPr>
        <p:spPr>
          <a:xfrm>
            <a:off x="7628639" y="579781"/>
            <a:ext cx="0" cy="38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7A5A5E-E551-8C29-CEA1-59D18CC4D9B6}"/>
              </a:ext>
            </a:extLst>
          </p:cNvPr>
          <p:cNvSpPr txBox="1"/>
          <p:nvPr/>
        </p:nvSpPr>
        <p:spPr>
          <a:xfrm>
            <a:off x="7657318" y="646549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B35904-0933-4246-32BB-0ADD1CFF7451}"/>
              </a:ext>
            </a:extLst>
          </p:cNvPr>
          <p:cNvSpPr txBox="1"/>
          <p:nvPr/>
        </p:nvSpPr>
        <p:spPr>
          <a:xfrm>
            <a:off x="6306927" y="673404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A46C8E29-4CB2-583E-4F0A-A05B9176D5C2}"/>
              </a:ext>
            </a:extLst>
          </p:cNvPr>
          <p:cNvCxnSpPr/>
          <p:nvPr/>
        </p:nvCxnSpPr>
        <p:spPr>
          <a:xfrm flipV="1">
            <a:off x="7107810" y="579781"/>
            <a:ext cx="0" cy="38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40B1F14-2AF5-C5A7-BF51-9B1D37987749}"/>
              </a:ext>
            </a:extLst>
          </p:cNvPr>
          <p:cNvSpPr txBox="1"/>
          <p:nvPr/>
        </p:nvSpPr>
        <p:spPr>
          <a:xfrm>
            <a:off x="216817" y="216816"/>
            <a:ext cx="9992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Как есть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63B1BD-FF8F-6931-82E2-B66BF6AFE599}"/>
              </a:ext>
            </a:extLst>
          </p:cNvPr>
          <p:cNvSpPr txBox="1"/>
          <p:nvPr/>
        </p:nvSpPr>
        <p:spPr>
          <a:xfrm>
            <a:off x="6219731" y="968211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Заместитель генерального директора</a:t>
            </a:r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B95152B9-97EC-6EF2-3CA6-CFB28337AAC4}"/>
              </a:ext>
            </a:extLst>
          </p:cNvPr>
          <p:cNvCxnSpPr>
            <a:cxnSpLocks/>
          </p:cNvCxnSpPr>
          <p:nvPr/>
        </p:nvCxnSpPr>
        <p:spPr>
          <a:xfrm>
            <a:off x="7661244" y="1491431"/>
            <a:ext cx="0" cy="38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7FDC499B-63AA-9A8C-C24F-525AC10FB8FE}"/>
              </a:ext>
            </a:extLst>
          </p:cNvPr>
          <p:cNvCxnSpPr/>
          <p:nvPr/>
        </p:nvCxnSpPr>
        <p:spPr>
          <a:xfrm flipV="1">
            <a:off x="7109381" y="1482024"/>
            <a:ext cx="0" cy="38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B5E966B-787A-D7F1-67D6-DF908E88DF37}"/>
              </a:ext>
            </a:extLst>
          </p:cNvPr>
          <p:cNvSpPr txBox="1"/>
          <p:nvPr/>
        </p:nvSpPr>
        <p:spPr>
          <a:xfrm>
            <a:off x="6219730" y="2577433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Начальник Отдел ОТ и ПБ</a:t>
            </a: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FA283014-355C-8511-6FFE-9C0747F6570F}"/>
              </a:ext>
            </a:extLst>
          </p:cNvPr>
          <p:cNvCxnSpPr/>
          <p:nvPr/>
        </p:nvCxnSpPr>
        <p:spPr>
          <a:xfrm flipV="1">
            <a:off x="7107810" y="2187638"/>
            <a:ext cx="0" cy="38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10EE8E8D-FD50-B9BA-FD67-5ED657856314}"/>
              </a:ext>
            </a:extLst>
          </p:cNvPr>
          <p:cNvCxnSpPr>
            <a:cxnSpLocks/>
          </p:cNvCxnSpPr>
          <p:nvPr/>
        </p:nvCxnSpPr>
        <p:spPr>
          <a:xfrm>
            <a:off x="7657317" y="2192341"/>
            <a:ext cx="0" cy="38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B0D409-A9AE-E016-58DE-E1D519FB30CB}"/>
              </a:ext>
            </a:extLst>
          </p:cNvPr>
          <p:cNvSpPr txBox="1"/>
          <p:nvPr/>
        </p:nvSpPr>
        <p:spPr>
          <a:xfrm>
            <a:off x="6219730" y="3275111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Эколог</a:t>
            </a: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3948EFDA-2759-8059-0AA4-23E821312C88}"/>
              </a:ext>
            </a:extLst>
          </p:cNvPr>
          <p:cNvCxnSpPr/>
          <p:nvPr/>
        </p:nvCxnSpPr>
        <p:spPr>
          <a:xfrm flipV="1">
            <a:off x="7109381" y="2885316"/>
            <a:ext cx="0" cy="38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922B978E-B26A-EDB0-882F-EBB9363A1689}"/>
              </a:ext>
            </a:extLst>
          </p:cNvPr>
          <p:cNvCxnSpPr>
            <a:cxnSpLocks/>
          </p:cNvCxnSpPr>
          <p:nvPr/>
        </p:nvCxnSpPr>
        <p:spPr>
          <a:xfrm>
            <a:off x="7680494" y="2894723"/>
            <a:ext cx="0" cy="38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CAE24AD-58B4-3B33-970B-F80023C073FD}"/>
              </a:ext>
            </a:extLst>
          </p:cNvPr>
          <p:cNvSpPr txBox="1"/>
          <p:nvPr/>
        </p:nvSpPr>
        <p:spPr>
          <a:xfrm>
            <a:off x="6306927" y="1558862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D78954-9857-F2CF-23B8-CF4EBA5600BA}"/>
              </a:ext>
            </a:extLst>
          </p:cNvPr>
          <p:cNvSpPr txBox="1"/>
          <p:nvPr/>
        </p:nvSpPr>
        <p:spPr>
          <a:xfrm>
            <a:off x="6306927" y="2256434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E03C03-AADD-3989-DD48-5AB1733D50E2}"/>
              </a:ext>
            </a:extLst>
          </p:cNvPr>
          <p:cNvSpPr txBox="1"/>
          <p:nvPr/>
        </p:nvSpPr>
        <p:spPr>
          <a:xfrm>
            <a:off x="6306927" y="2944599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D7EB48-0AA8-76AD-0388-BE96BEA86E13}"/>
              </a:ext>
            </a:extLst>
          </p:cNvPr>
          <p:cNvSpPr txBox="1"/>
          <p:nvPr/>
        </p:nvSpPr>
        <p:spPr>
          <a:xfrm>
            <a:off x="7684031" y="1524628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F25A0A-3BE4-6AFC-AD4C-38FDF9E7DB31}"/>
              </a:ext>
            </a:extLst>
          </p:cNvPr>
          <p:cNvSpPr txBox="1"/>
          <p:nvPr/>
        </p:nvSpPr>
        <p:spPr>
          <a:xfrm>
            <a:off x="7687365" y="2251730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0EF293-5078-D011-1359-935D17DDD4FE}"/>
              </a:ext>
            </a:extLst>
          </p:cNvPr>
          <p:cNvSpPr txBox="1"/>
          <p:nvPr/>
        </p:nvSpPr>
        <p:spPr>
          <a:xfrm>
            <a:off x="7715252" y="2928676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63F899-22E3-09BF-6B5D-2372883DACA6}"/>
              </a:ext>
            </a:extLst>
          </p:cNvPr>
          <p:cNvSpPr txBox="1"/>
          <p:nvPr/>
        </p:nvSpPr>
        <p:spPr>
          <a:xfrm>
            <a:off x="6660032" y="3604046"/>
            <a:ext cx="1882999" cy="846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Соблюдение экологического законодательства в обособленных подразделениях, разработка и актуализация проектной документации и иной документации, договорная деятельность, направление на обучение, контроль и вывоз отходов, оплата счетов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30D5FB7-3BE4-787F-93DB-82346F537A15}"/>
              </a:ext>
            </a:extLst>
          </p:cNvPr>
          <p:cNvSpPr txBox="1"/>
          <p:nvPr/>
        </p:nvSpPr>
        <p:spPr>
          <a:xfrm>
            <a:off x="2634203" y="3275110"/>
            <a:ext cx="225811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Служба главного инженера</a:t>
            </a:r>
          </a:p>
        </p:txBody>
      </p:sp>
      <p:cxnSp>
        <p:nvCxnSpPr>
          <p:cNvPr id="80" name="Прямая со стрелкой 79">
            <a:extLst>
              <a:ext uri="{FF2B5EF4-FFF2-40B4-BE49-F238E27FC236}">
                <a16:creationId xmlns:a16="http://schemas.microsoft.com/office/drawing/2014/main" id="{29D85CC9-88A6-55A2-178C-F04375E69D23}"/>
              </a:ext>
            </a:extLst>
          </p:cNvPr>
          <p:cNvCxnSpPr>
            <a:stCxn id="78" idx="3"/>
            <a:endCxn id="59" idx="1"/>
          </p:cNvCxnSpPr>
          <p:nvPr/>
        </p:nvCxnSpPr>
        <p:spPr>
          <a:xfrm>
            <a:off x="4892315" y="3428999"/>
            <a:ext cx="13274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F971CEB-74BB-D6F9-F516-DA4BBDE97505}"/>
              </a:ext>
            </a:extLst>
          </p:cNvPr>
          <p:cNvSpPr txBox="1"/>
          <p:nvPr/>
        </p:nvSpPr>
        <p:spPr>
          <a:xfrm>
            <a:off x="5133782" y="3501521"/>
            <a:ext cx="77378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Подача заявок на вывоз отходов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209BF2-0537-4CD6-9358-95D60ACC09B0}"/>
              </a:ext>
            </a:extLst>
          </p:cNvPr>
          <p:cNvSpPr txBox="1"/>
          <p:nvPr/>
        </p:nvSpPr>
        <p:spPr>
          <a:xfrm>
            <a:off x="2634203" y="3947796"/>
            <a:ext cx="22581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Административно-хозяйственный отдел</a:t>
            </a:r>
          </a:p>
        </p:txBody>
      </p:sp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B1CF9BDF-56DF-407A-0EAE-FCB29231B2BD}"/>
              </a:ext>
            </a:extLst>
          </p:cNvPr>
          <p:cNvCxnSpPr>
            <a:stCxn id="78" idx="2"/>
            <a:endCxn id="84" idx="0"/>
          </p:cNvCxnSpPr>
          <p:nvPr/>
        </p:nvCxnSpPr>
        <p:spPr>
          <a:xfrm>
            <a:off x="3763259" y="3582887"/>
            <a:ext cx="0" cy="36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5FACA6D-9611-32F5-2509-59281047777D}"/>
              </a:ext>
            </a:extLst>
          </p:cNvPr>
          <p:cNvSpPr txBox="1"/>
          <p:nvPr/>
        </p:nvSpPr>
        <p:spPr>
          <a:xfrm>
            <a:off x="2821759" y="4520454"/>
            <a:ext cx="188299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Подача заявок на вывоз твердых коммунальных отходов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D95FFE-D6C8-EB0C-28F7-51DA2DC550B2}"/>
              </a:ext>
            </a:extLst>
          </p:cNvPr>
          <p:cNvSpPr txBox="1"/>
          <p:nvPr/>
        </p:nvSpPr>
        <p:spPr>
          <a:xfrm>
            <a:off x="9397337" y="2570520"/>
            <a:ext cx="26677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Бухгалтерия</a:t>
            </a:r>
          </a:p>
        </p:txBody>
      </p:sp>
      <p:cxnSp>
        <p:nvCxnSpPr>
          <p:cNvPr id="93" name="Прямая со стрелкой 92">
            <a:extLst>
              <a:ext uri="{FF2B5EF4-FFF2-40B4-BE49-F238E27FC236}">
                <a16:creationId xmlns:a16="http://schemas.microsoft.com/office/drawing/2014/main" id="{28E85C03-0CF6-E083-A36A-49A259BCF4A0}"/>
              </a:ext>
            </a:extLst>
          </p:cNvPr>
          <p:cNvCxnSpPr>
            <a:cxnSpLocks/>
          </p:cNvCxnSpPr>
          <p:nvPr/>
        </p:nvCxnSpPr>
        <p:spPr>
          <a:xfrm flipV="1">
            <a:off x="9094905" y="2878297"/>
            <a:ext cx="462892" cy="60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2140656-2F8F-DC25-673D-2507FE053122}"/>
              </a:ext>
            </a:extLst>
          </p:cNvPr>
          <p:cNvSpPr txBox="1"/>
          <p:nvPr/>
        </p:nvSpPr>
        <p:spPr>
          <a:xfrm>
            <a:off x="9326351" y="3213554"/>
            <a:ext cx="1042773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документов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C87678D-C9D3-087A-73F7-A4624B461BD3}"/>
              </a:ext>
            </a:extLst>
          </p:cNvPr>
          <p:cNvSpPr txBox="1"/>
          <p:nvPr/>
        </p:nvSpPr>
        <p:spPr>
          <a:xfrm>
            <a:off x="2017140" y="2315888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Начальник обособленных подразделений</a:t>
            </a:r>
          </a:p>
        </p:txBody>
      </p: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B70CC3BA-3EC4-C1A5-F13C-1EC04CF5C90C}"/>
              </a:ext>
            </a:extLst>
          </p:cNvPr>
          <p:cNvCxnSpPr>
            <a:cxnSpLocks/>
          </p:cNvCxnSpPr>
          <p:nvPr/>
        </p:nvCxnSpPr>
        <p:spPr>
          <a:xfrm>
            <a:off x="4892314" y="2570520"/>
            <a:ext cx="1327415" cy="70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7C779BF-A2A4-D70C-A235-4AAFE046A837}"/>
              </a:ext>
            </a:extLst>
          </p:cNvPr>
          <p:cNvSpPr txBox="1"/>
          <p:nvPr/>
        </p:nvSpPr>
        <p:spPr>
          <a:xfrm>
            <a:off x="5198488" y="1931167"/>
            <a:ext cx="77378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Подача заявок на вывоз отходов</a:t>
            </a:r>
          </a:p>
        </p:txBody>
      </p:sp>
    </p:spTree>
    <p:extLst>
      <p:ext uri="{BB962C8B-B14F-4D97-AF65-F5344CB8AC3E}">
        <p14:creationId xmlns:p14="http://schemas.microsoft.com/office/powerpoint/2010/main" val="253152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292CFB-9902-D571-9D1F-3707503DD698}"/>
              </a:ext>
            </a:extLst>
          </p:cNvPr>
          <p:cNvSpPr txBox="1"/>
          <p:nvPr/>
        </p:nvSpPr>
        <p:spPr>
          <a:xfrm>
            <a:off x="6660032" y="56561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Генеральный директор или лицо его замещающее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AD600-7D06-066E-CBC6-5EE7C6CF8651}"/>
              </a:ext>
            </a:extLst>
          </p:cNvPr>
          <p:cNvSpPr txBox="1"/>
          <p:nvPr/>
        </p:nvSpPr>
        <p:spPr>
          <a:xfrm>
            <a:off x="6242508" y="969576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инженер (ответственный за экологическую безопасность)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1784F-8274-888D-6488-10829AE4EB2A}"/>
              </a:ext>
            </a:extLst>
          </p:cNvPr>
          <p:cNvSpPr txBox="1"/>
          <p:nvPr/>
        </p:nvSpPr>
        <p:spPr>
          <a:xfrm>
            <a:off x="8570137" y="607519"/>
            <a:ext cx="1558113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Персональная ответственность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28AC4C3-3241-7F0A-5BDD-583728CE2E1A}"/>
              </a:ext>
            </a:extLst>
          </p:cNvPr>
          <p:cNvCxnSpPr>
            <a:cxnSpLocks/>
          </p:cNvCxnSpPr>
          <p:nvPr/>
        </p:nvCxnSpPr>
        <p:spPr>
          <a:xfrm>
            <a:off x="7628639" y="579781"/>
            <a:ext cx="0" cy="38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0144C52-CF71-848B-36C2-C367A4373857}"/>
              </a:ext>
            </a:extLst>
          </p:cNvPr>
          <p:cNvSpPr txBox="1"/>
          <p:nvPr/>
        </p:nvSpPr>
        <p:spPr>
          <a:xfrm>
            <a:off x="7657319" y="640145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C54D9A1-9D98-B8C8-FB88-4D3C5D20B3F7}"/>
              </a:ext>
            </a:extLst>
          </p:cNvPr>
          <p:cNvCxnSpPr>
            <a:cxnSpLocks/>
            <a:stCxn id="37" idx="1"/>
            <a:endCxn id="70" idx="3"/>
          </p:cNvCxnSpPr>
          <p:nvPr/>
        </p:nvCxnSpPr>
        <p:spPr>
          <a:xfrm flipH="1" flipV="1">
            <a:off x="5263689" y="2725783"/>
            <a:ext cx="1031057" cy="499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A7C306FE-37A8-3B3E-AB22-AEBEB7EE1E77}"/>
              </a:ext>
            </a:extLst>
          </p:cNvPr>
          <p:cNvCxnSpPr>
            <a:cxnSpLocks/>
          </p:cNvCxnSpPr>
          <p:nvPr/>
        </p:nvCxnSpPr>
        <p:spPr>
          <a:xfrm flipH="1">
            <a:off x="7628639" y="1500120"/>
            <a:ext cx="1" cy="1571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6927FF9-8BFC-5BB3-D565-0BCF6E4F3DB6}"/>
              </a:ext>
            </a:extLst>
          </p:cNvPr>
          <p:cNvSpPr txBox="1"/>
          <p:nvPr/>
        </p:nvSpPr>
        <p:spPr>
          <a:xfrm>
            <a:off x="6294746" y="3071798"/>
            <a:ext cx="26677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Эколог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9EAEB1-DCB7-02DE-231C-293229C21047}"/>
              </a:ext>
            </a:extLst>
          </p:cNvPr>
          <p:cNvSpPr txBox="1"/>
          <p:nvPr/>
        </p:nvSpPr>
        <p:spPr>
          <a:xfrm>
            <a:off x="7657318" y="2150000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90D22934-A076-0B6B-3826-5C4BF868FD74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7628639" y="3379575"/>
            <a:ext cx="0" cy="388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AEE571E-AD95-7F6E-5092-53138C9EB464}"/>
              </a:ext>
            </a:extLst>
          </p:cNvPr>
          <p:cNvSpPr txBox="1"/>
          <p:nvPr/>
        </p:nvSpPr>
        <p:spPr>
          <a:xfrm>
            <a:off x="6687138" y="3767608"/>
            <a:ext cx="1882999" cy="9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Соблюдение экологического законодательства в обособленных подразделениях, разработка и актуализация проектной документации, инструкций, приказов, производственный экологический контроль, подача отчётности, договорная деятельность, расчёт платы за НВОС, организация обучения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8946A2-CD87-6405-76DF-A834A5081BF7}"/>
              </a:ext>
            </a:extLst>
          </p:cNvPr>
          <p:cNvSpPr txBox="1"/>
          <p:nvPr/>
        </p:nvSpPr>
        <p:spPr>
          <a:xfrm>
            <a:off x="6306927" y="673404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326C18-CC90-41A2-66D2-C173782CF190}"/>
              </a:ext>
            </a:extLst>
          </p:cNvPr>
          <p:cNvSpPr txBox="1"/>
          <p:nvPr/>
        </p:nvSpPr>
        <p:spPr>
          <a:xfrm>
            <a:off x="2388516" y="961543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Начальник обособленных подразделений</a:t>
            </a:r>
          </a:p>
        </p:txBody>
      </p: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284189C9-644E-B85E-77E0-91CCD33E8981}"/>
              </a:ext>
            </a:extLst>
          </p:cNvPr>
          <p:cNvCxnSpPr>
            <a:cxnSpLocks/>
          </p:cNvCxnSpPr>
          <p:nvPr/>
        </p:nvCxnSpPr>
        <p:spPr>
          <a:xfrm>
            <a:off x="3723586" y="1958737"/>
            <a:ext cx="0" cy="613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90F1826-0D10-35BA-02B5-AD3B0C0041DB}"/>
              </a:ext>
            </a:extLst>
          </p:cNvPr>
          <p:cNvSpPr txBox="1"/>
          <p:nvPr/>
        </p:nvSpPr>
        <p:spPr>
          <a:xfrm>
            <a:off x="2388514" y="2571894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Начальники участков, мастера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A25CF8-730D-3831-7843-3332869EF42A}"/>
              </a:ext>
            </a:extLst>
          </p:cNvPr>
          <p:cNvSpPr txBox="1"/>
          <p:nvPr/>
        </p:nvSpPr>
        <p:spPr>
          <a:xfrm>
            <a:off x="2388516" y="1545527"/>
            <a:ext cx="2875175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700" dirty="0"/>
              <a:t>Отвечают за соблюдение экологических норм на своих участках (например, за правильный сбор отходов на местах, исправность оборудования, предотвращение разливов ГСМ или утечек)</a:t>
            </a:r>
            <a:endParaRPr lang="ru-RU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C14CC8F4-7B5B-547C-F9E7-C56610E306C9}"/>
              </a:ext>
            </a:extLst>
          </p:cNvPr>
          <p:cNvCxnSpPr>
            <a:cxnSpLocks/>
            <a:endCxn id="58" idx="3"/>
          </p:cNvCxnSpPr>
          <p:nvPr/>
        </p:nvCxnSpPr>
        <p:spPr>
          <a:xfrm flipH="1">
            <a:off x="5263691" y="1223153"/>
            <a:ext cx="9788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AD51FC4-CA07-1A64-F995-63E7EC7B5DD8}"/>
              </a:ext>
            </a:extLst>
          </p:cNvPr>
          <p:cNvSpPr txBox="1"/>
          <p:nvPr/>
        </p:nvSpPr>
        <p:spPr>
          <a:xfrm>
            <a:off x="2388514" y="2913761"/>
            <a:ext cx="28751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700" dirty="0"/>
              <a:t>Несут дисциплинарную и материальную ответственность за локальные нарушения инструкций. Контролирую раздельное накопление отходов. Подают заявки на вывоз. Контролирую вывоз. Заполнение журнала учёта движения отходов</a:t>
            </a:r>
            <a:endParaRPr lang="ru-RU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5BCF404B-F301-532D-755F-4C63C2C71F9C}"/>
              </a:ext>
            </a:extLst>
          </p:cNvPr>
          <p:cNvCxnSpPr/>
          <p:nvPr/>
        </p:nvCxnSpPr>
        <p:spPr>
          <a:xfrm flipV="1">
            <a:off x="7107810" y="579781"/>
            <a:ext cx="0" cy="38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09EACC6A-876D-5EE7-4DD9-1C1308730A23}"/>
              </a:ext>
            </a:extLst>
          </p:cNvPr>
          <p:cNvCxnSpPr>
            <a:cxnSpLocks/>
          </p:cNvCxnSpPr>
          <p:nvPr/>
        </p:nvCxnSpPr>
        <p:spPr>
          <a:xfrm flipV="1">
            <a:off x="7107810" y="1492796"/>
            <a:ext cx="0" cy="1579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139A217-67B7-47A8-D987-C323772661F7}"/>
              </a:ext>
            </a:extLst>
          </p:cNvPr>
          <p:cNvSpPr txBox="1"/>
          <p:nvPr/>
        </p:nvSpPr>
        <p:spPr>
          <a:xfrm>
            <a:off x="6308494" y="2150000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FD941C2-3BEE-B690-25CB-3EE7F297BF16}"/>
              </a:ext>
            </a:extLst>
          </p:cNvPr>
          <p:cNvSpPr txBox="1"/>
          <p:nvPr/>
        </p:nvSpPr>
        <p:spPr>
          <a:xfrm>
            <a:off x="7657318" y="3451739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3CE236F-E267-7A63-4649-6C89B805F9DF}"/>
              </a:ext>
            </a:extLst>
          </p:cNvPr>
          <p:cNvSpPr txBox="1"/>
          <p:nvPr/>
        </p:nvSpPr>
        <p:spPr>
          <a:xfrm rot="1543053">
            <a:off x="5423166" y="2678405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CA6F11F1-6093-3043-3DAB-B88F6DBBB7ED}"/>
              </a:ext>
            </a:extLst>
          </p:cNvPr>
          <p:cNvCxnSpPr>
            <a:cxnSpLocks/>
          </p:cNvCxnSpPr>
          <p:nvPr/>
        </p:nvCxnSpPr>
        <p:spPr>
          <a:xfrm>
            <a:off x="5251508" y="2879671"/>
            <a:ext cx="1043238" cy="499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ACAE4F03-0F75-4EEF-D174-F5E34D6F4F4E}"/>
              </a:ext>
            </a:extLst>
          </p:cNvPr>
          <p:cNvSpPr txBox="1"/>
          <p:nvPr/>
        </p:nvSpPr>
        <p:spPr>
          <a:xfrm>
            <a:off x="5366403" y="920642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453A556-D198-D6E3-18B3-7666CFD43831}"/>
              </a:ext>
            </a:extLst>
          </p:cNvPr>
          <p:cNvSpPr txBox="1"/>
          <p:nvPr/>
        </p:nvSpPr>
        <p:spPr>
          <a:xfrm>
            <a:off x="2371117" y="4051992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Рабочие</a:t>
            </a:r>
          </a:p>
        </p:txBody>
      </p: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7EB1B5DD-EC07-D959-B458-69CE201E8FC0}"/>
              </a:ext>
            </a:extLst>
          </p:cNvPr>
          <p:cNvCxnSpPr>
            <a:cxnSpLocks/>
          </p:cNvCxnSpPr>
          <p:nvPr/>
        </p:nvCxnSpPr>
        <p:spPr>
          <a:xfrm>
            <a:off x="3723586" y="3439267"/>
            <a:ext cx="0" cy="62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57D04FF3-B3FC-4C4D-9475-D48687C9DBD8}"/>
              </a:ext>
            </a:extLst>
          </p:cNvPr>
          <p:cNvSpPr txBox="1"/>
          <p:nvPr/>
        </p:nvSpPr>
        <p:spPr>
          <a:xfrm>
            <a:off x="2371117" y="4413624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700" dirty="0"/>
              <a:t>Сортируют отходы по контейнерам, соблюдают технологический регламент, сообщают о малейших неисправностях или утечках.</a:t>
            </a:r>
            <a:endParaRPr lang="ru-RU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124F678-6079-676E-FA48-5F922CD39BC6}"/>
              </a:ext>
            </a:extLst>
          </p:cNvPr>
          <p:cNvSpPr txBox="1"/>
          <p:nvPr/>
        </p:nvSpPr>
        <p:spPr>
          <a:xfrm>
            <a:off x="9180520" y="2134075"/>
            <a:ext cx="26677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Бухгалтерия</a:t>
            </a:r>
          </a:p>
        </p:txBody>
      </p:sp>
      <p:cxnSp>
        <p:nvCxnSpPr>
          <p:cNvPr id="130" name="Прямая со стрелкой 129">
            <a:extLst>
              <a:ext uri="{FF2B5EF4-FFF2-40B4-BE49-F238E27FC236}">
                <a16:creationId xmlns:a16="http://schemas.microsoft.com/office/drawing/2014/main" id="{B9F83AB4-629F-55EA-EB94-FE7679536EEC}"/>
              </a:ext>
            </a:extLst>
          </p:cNvPr>
          <p:cNvCxnSpPr>
            <a:cxnSpLocks/>
          </p:cNvCxnSpPr>
          <p:nvPr/>
        </p:nvCxnSpPr>
        <p:spPr>
          <a:xfrm flipV="1">
            <a:off x="8962531" y="2459792"/>
            <a:ext cx="386662" cy="84266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FA9DB6D8-E1E6-4D8E-33EC-DA47DC2870B2}"/>
              </a:ext>
            </a:extLst>
          </p:cNvPr>
          <p:cNvSpPr txBox="1"/>
          <p:nvPr/>
        </p:nvSpPr>
        <p:spPr>
          <a:xfrm>
            <a:off x="9459402" y="2539682"/>
            <a:ext cx="26677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800" dirty="0"/>
              <a:t>Вносит плату за негативное воздействие на окружающую среду (НВОС), оплачивает штрафы (при их наличии), оплата счетов по договорам.</a:t>
            </a:r>
            <a:endParaRPr lang="ru-RU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4B9803A-627C-0072-4201-BD0C96A91F78}"/>
              </a:ext>
            </a:extLst>
          </p:cNvPr>
          <p:cNvSpPr txBox="1"/>
          <p:nvPr/>
        </p:nvSpPr>
        <p:spPr>
          <a:xfrm>
            <a:off x="9169921" y="3024333"/>
            <a:ext cx="69721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документов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9AB4DF6-6987-F6ED-9E02-54FE979A5E7A}"/>
              </a:ext>
            </a:extLst>
          </p:cNvPr>
          <p:cNvSpPr txBox="1"/>
          <p:nvPr/>
        </p:nvSpPr>
        <p:spPr>
          <a:xfrm>
            <a:off x="75415" y="958316"/>
            <a:ext cx="2257996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600" dirty="0"/>
              <a:t>- Воронеж - Свиридов Евгений Игоревич - Заместитель начальника производства;</a:t>
            </a:r>
          </a:p>
          <a:p>
            <a:r>
              <a:rPr lang="ru-RU" sz="600" dirty="0"/>
              <a:t>- Казань - Лычковский Сергей Сергеевич - Начальник производства;</a:t>
            </a:r>
          </a:p>
          <a:p>
            <a:r>
              <a:rPr lang="ru-RU" sz="600" dirty="0"/>
              <a:t>- Ульяновск - Степанов Денис Алексеевич - Руководитель проектов;</a:t>
            </a:r>
          </a:p>
          <a:p>
            <a:r>
              <a:rPr lang="ru-RU" sz="600" dirty="0"/>
              <a:t>- Жуковский - Добролюбова Галина Михайловна - Заместитель начальника конструкторского бюро;</a:t>
            </a:r>
          </a:p>
          <a:p>
            <a:r>
              <a:rPr lang="ru-RU" sz="600" dirty="0"/>
              <a:t>- Внуково - Климачев Сергей Валерьевич - Заместитель директора департамента - Начальник производственного подразделения № 5;</a:t>
            </a:r>
          </a:p>
          <a:p>
            <a:r>
              <a:rPr lang="ru-RU" sz="600" dirty="0"/>
              <a:t>- Руднево - Куликова Юлия Борисовна - Руководитель производственного цеха;</a:t>
            </a:r>
          </a:p>
          <a:p>
            <a:r>
              <a:rPr lang="ru-RU" sz="600" dirty="0"/>
              <a:t>- </a:t>
            </a:r>
            <a:r>
              <a:rPr lang="ru-RU" sz="600" dirty="0" err="1"/>
              <a:t>Машково</a:t>
            </a:r>
            <a:r>
              <a:rPr lang="ru-RU" sz="600" dirty="0"/>
              <a:t> - Гуринович Дмитрий Николаевич - Директор по производству.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EE6DB83-7E5E-39D8-6D80-4EA2244ED045}"/>
              </a:ext>
            </a:extLst>
          </p:cNvPr>
          <p:cNvSpPr txBox="1"/>
          <p:nvPr/>
        </p:nvSpPr>
        <p:spPr>
          <a:xfrm rot="1540429">
            <a:off x="5300265" y="3123584"/>
            <a:ext cx="77378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информации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F3A7FF2-0383-8191-A016-184318BB0AA0}"/>
              </a:ext>
            </a:extLst>
          </p:cNvPr>
          <p:cNvSpPr txBox="1"/>
          <p:nvPr/>
        </p:nvSpPr>
        <p:spPr>
          <a:xfrm>
            <a:off x="9154467" y="969576"/>
            <a:ext cx="2257996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600" dirty="0"/>
              <a:t>Главный инженер - Федоренко Сергей Владимирович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CB2E70F-8578-F475-5E06-E971B84B35D8}"/>
              </a:ext>
            </a:extLst>
          </p:cNvPr>
          <p:cNvSpPr txBox="1"/>
          <p:nvPr/>
        </p:nvSpPr>
        <p:spPr>
          <a:xfrm>
            <a:off x="3749121" y="2094699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BFC1442-4AFB-A6D7-E8B0-DC396A9DB2CF}"/>
              </a:ext>
            </a:extLst>
          </p:cNvPr>
          <p:cNvSpPr txBox="1"/>
          <p:nvPr/>
        </p:nvSpPr>
        <p:spPr>
          <a:xfrm>
            <a:off x="3751279" y="3618947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cxnSp>
        <p:nvCxnSpPr>
          <p:cNvPr id="153" name="Прямая со стрелкой 152">
            <a:extLst>
              <a:ext uri="{FF2B5EF4-FFF2-40B4-BE49-F238E27FC236}">
                <a16:creationId xmlns:a16="http://schemas.microsoft.com/office/drawing/2014/main" id="{E34169D0-3A66-1AFE-6B03-CDFEE2EDFC80}"/>
              </a:ext>
            </a:extLst>
          </p:cNvPr>
          <p:cNvCxnSpPr>
            <a:cxnSpLocks/>
          </p:cNvCxnSpPr>
          <p:nvPr/>
        </p:nvCxnSpPr>
        <p:spPr>
          <a:xfrm flipV="1">
            <a:off x="3470635" y="1944675"/>
            <a:ext cx="0" cy="627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5" name="Прямая со стрелкой 154">
            <a:extLst>
              <a:ext uri="{FF2B5EF4-FFF2-40B4-BE49-F238E27FC236}">
                <a16:creationId xmlns:a16="http://schemas.microsoft.com/office/drawing/2014/main" id="{E0FDE119-72B1-EA6C-25E1-7B417C3898CD}"/>
              </a:ext>
            </a:extLst>
          </p:cNvPr>
          <p:cNvCxnSpPr>
            <a:cxnSpLocks/>
          </p:cNvCxnSpPr>
          <p:nvPr/>
        </p:nvCxnSpPr>
        <p:spPr>
          <a:xfrm flipV="1">
            <a:off x="3470635" y="3424773"/>
            <a:ext cx="0" cy="627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C598FE30-BD2F-C77F-C428-5C2F83CFA54C}"/>
              </a:ext>
            </a:extLst>
          </p:cNvPr>
          <p:cNvSpPr txBox="1"/>
          <p:nvPr/>
        </p:nvSpPr>
        <p:spPr>
          <a:xfrm>
            <a:off x="2658754" y="2028905"/>
            <a:ext cx="77378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</a:t>
            </a:r>
          </a:p>
        </p:txBody>
      </p:sp>
      <p:cxnSp>
        <p:nvCxnSpPr>
          <p:cNvPr id="161" name="Прямая со стрелкой 160">
            <a:extLst>
              <a:ext uri="{FF2B5EF4-FFF2-40B4-BE49-F238E27FC236}">
                <a16:creationId xmlns:a16="http://schemas.microsoft.com/office/drawing/2014/main" id="{E88658E2-F35E-A6CF-D89F-19748E310A90}"/>
              </a:ext>
            </a:extLst>
          </p:cNvPr>
          <p:cNvCxnSpPr>
            <a:cxnSpLocks/>
          </p:cNvCxnSpPr>
          <p:nvPr/>
        </p:nvCxnSpPr>
        <p:spPr>
          <a:xfrm>
            <a:off x="5263689" y="1373333"/>
            <a:ext cx="978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4AB6D9F3-64C7-3DD6-800E-4D5E3C674FD1}"/>
              </a:ext>
            </a:extLst>
          </p:cNvPr>
          <p:cNvSpPr txBox="1"/>
          <p:nvPr/>
        </p:nvSpPr>
        <p:spPr>
          <a:xfrm>
            <a:off x="5355211" y="1416364"/>
            <a:ext cx="77378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C20DED0-48F3-B9DD-A75E-A204C59987E6}"/>
              </a:ext>
            </a:extLst>
          </p:cNvPr>
          <p:cNvSpPr txBox="1"/>
          <p:nvPr/>
        </p:nvSpPr>
        <p:spPr>
          <a:xfrm>
            <a:off x="216816" y="216816"/>
            <a:ext cx="21716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Как должно быть</a:t>
            </a:r>
          </a:p>
        </p:txBody>
      </p:sp>
      <p:cxnSp>
        <p:nvCxnSpPr>
          <p:cNvPr id="169" name="Прямая со стрелкой 168">
            <a:extLst>
              <a:ext uri="{FF2B5EF4-FFF2-40B4-BE49-F238E27FC236}">
                <a16:creationId xmlns:a16="http://schemas.microsoft.com/office/drawing/2014/main" id="{951A5453-24E2-E4D9-2F04-5C873F7AA961}"/>
              </a:ext>
            </a:extLst>
          </p:cNvPr>
          <p:cNvCxnSpPr>
            <a:cxnSpLocks/>
          </p:cNvCxnSpPr>
          <p:nvPr/>
        </p:nvCxnSpPr>
        <p:spPr>
          <a:xfrm>
            <a:off x="9116303" y="1509643"/>
            <a:ext cx="0" cy="2811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0721DD5B-C441-B68F-E536-DC02FB515385}"/>
              </a:ext>
            </a:extLst>
          </p:cNvPr>
          <p:cNvSpPr txBox="1"/>
          <p:nvPr/>
        </p:nvSpPr>
        <p:spPr>
          <a:xfrm>
            <a:off x="8671874" y="4309449"/>
            <a:ext cx="26677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Служба главного инженера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D56396C-C0A1-5676-8EC4-82A5BF0B8FFC}"/>
              </a:ext>
            </a:extLst>
          </p:cNvPr>
          <p:cNvSpPr txBox="1"/>
          <p:nvPr/>
        </p:nvSpPr>
        <p:spPr>
          <a:xfrm>
            <a:off x="8962531" y="4650800"/>
            <a:ext cx="18829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Оборудование мест накопления отходов, план-схема, согласование с администрацией (для ТКО)</a:t>
            </a:r>
            <a:endParaRPr lang="ru-RU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8B1086C-FB85-81AA-8166-FB43DBC4D55F}"/>
              </a:ext>
            </a:extLst>
          </p:cNvPr>
          <p:cNvSpPr txBox="1"/>
          <p:nvPr/>
        </p:nvSpPr>
        <p:spPr>
          <a:xfrm>
            <a:off x="2664641" y="3534309"/>
            <a:ext cx="77378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DCDE4-56F5-482C-8E5E-5585F988F153}"/>
              </a:ext>
            </a:extLst>
          </p:cNvPr>
          <p:cNvSpPr txBox="1"/>
          <p:nvPr/>
        </p:nvSpPr>
        <p:spPr>
          <a:xfrm>
            <a:off x="9149881" y="3605386"/>
            <a:ext cx="7737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sp>
        <p:nvSpPr>
          <p:cNvPr id="177" name="TextBox 173"/>
          <p:cNvSpPr txBox="1"/>
          <p:nvPr/>
        </p:nvSpPr>
        <p:spPr>
          <a:xfrm>
            <a:off x="8500000" y="5300000"/>
            <a:ext cx="3550000" cy="6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Ведущий эколог вправе выдавать предписания подразделениям и ежеквартально направлять генеральному директору справку о выполнении экологических требований</a:t>
            </a:r>
            <a:endParaRPr lang="ru-RU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Box 171"/>
          <p:cNvSpPr txBox="1"/>
          <p:nvPr/>
        </p:nvSpPr>
        <p:spPr>
          <a:xfrm>
            <a:off x="2371117" y="5000000"/>
            <a:ext cx="28751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 главного технолога</a:t>
            </a:r>
          </a:p>
        </p:txBody>
      </p:sp>
      <p:sp>
        <p:nvSpPr>
          <p:cNvPr id="179" name="TextBox 173"/>
          <p:cNvSpPr txBox="1"/>
          <p:nvPr/>
        </p:nvSpPr>
        <p:spPr>
          <a:xfrm>
            <a:off x="2371117" y="5340000"/>
            <a:ext cx="287517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внедрения уведомляет эколога о новом оборудовании, материалах, изменениях техпроцессов</a:t>
            </a:r>
            <a:endParaRPr lang="ru-RU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Прямая со стрелкой 44">
            <a:extLst>
              <a:ext uri="{FF2B5EF4-FFF2-40B4-BE49-F238E27FC236}">
                <a16:creationId xmlns:a16="http://schemas.microsoft.com/office/drawing/2014/main" id="{90D22934-A076-0B6B-3826-5C4BF868FD74}"/>
              </a:ext>
            </a:extLst>
          </p:cNvPr>
          <p:cNvCxnSpPr>
            <a:cxnSpLocks/>
          </p:cNvCxnSpPr>
          <p:nvPr/>
        </p:nvCxnSpPr>
        <p:spPr>
          <a:xfrm flipV="1">
            <a:off x="5246292" y="4217608"/>
            <a:ext cx="1440846" cy="93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21"/>
          <p:cNvSpPr txBox="1"/>
          <p:nvPr/>
        </p:nvSpPr>
        <p:spPr>
          <a:xfrm>
            <a:off x="5330000" y="4760000"/>
            <a:ext cx="1250000" cy="4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Уведомление</a:t>
            </a:r>
          </a:p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 изменениях</a:t>
            </a:r>
          </a:p>
        </p:txBody>
      </p:sp>
    </p:spTree>
    <p:extLst>
      <p:ext uri="{BB962C8B-B14F-4D97-AF65-F5344CB8AC3E}">
        <p14:creationId xmlns:p14="http://schemas.microsoft.com/office/powerpoint/2010/main" val="35761384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373</Words>
  <Application>Microsoft Office PowerPoint</Application>
  <PresentationFormat>Широкоэкранный</PresentationFormat>
  <Paragraphs>66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Батушин Алексей Викторович</dc:creator>
  <cp:lastModifiedBy>Батушин Алексей Викторович</cp:lastModifiedBy>
  <cp:revision>10</cp:revision>
  <dcterms:created xsi:type="dcterms:W3CDTF">2026-10-08T10:26:01Z</dcterms:created>
  <dcterms:modified xsi:type="dcterms:W3CDTF">2026-10-08T12:23:57Z</dcterms:modified>
</cp:coreProperties>
</file>