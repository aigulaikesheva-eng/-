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7"/>
  </p:sldIdLst>
  <p:sldSz cx="7562850" cy="10688638"/>
  <p:notesSz cx="7562850" cy="10688638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75" d="100"/>
          <a:sy n="75" d="100"/>
        </p:scale>
        <p:origin x="2040" y="53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viewProps" Target="viewProps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hape 1058"/>
          <p:cNvSpPr>
            <a:spLocks noChangeArrowheads="1" noGrp="1"/>
          </p:cNvSpPr>
          <p:nvPr userDrawn="1"/>
        </p:nvSpPr>
        <p:spPr bwMode="auto">
          <a:xfrm>
            <a:off x="5099583" y="1"/>
            <a:ext cx="2463264" cy="1068779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74" y="0"/>
                </a:moveTo>
                <a:lnTo>
                  <a:pt x="3874" y="19794"/>
                </a:lnTo>
                <a:lnTo>
                  <a:pt x="3874" y="19794"/>
                </a:lnTo>
                <a:cubicBezTo>
                  <a:pt x="3874" y="19794"/>
                  <a:pt x="3932" y="19794"/>
                  <a:pt x="3932" y="19794"/>
                </a:cubicBezTo>
                <a:lnTo>
                  <a:pt x="3932" y="19794"/>
                </a:lnTo>
                <a:cubicBezTo>
                  <a:pt x="1759" y="19794"/>
                  <a:pt x="0" y="20605"/>
                  <a:pt x="0" y="21600"/>
                </a:cubicBezTo>
                <a:lnTo>
                  <a:pt x="0" y="21600"/>
                </a:lnTo>
                <a:cubicBezTo>
                  <a:pt x="0" y="22594"/>
                  <a:pt x="1759" y="23405"/>
                  <a:pt x="3932" y="23405"/>
                </a:cubicBezTo>
                <a:lnTo>
                  <a:pt x="3932" y="23405"/>
                </a:lnTo>
                <a:cubicBezTo>
                  <a:pt x="3932" y="23405"/>
                  <a:pt x="3874" y="23405"/>
                  <a:pt x="3874" y="23405"/>
                </a:cubicBezTo>
                <a:lnTo>
                  <a:pt x="3874" y="43200"/>
                </a:lnTo>
                <a:lnTo>
                  <a:pt x="43200" y="43200"/>
                </a:lnTo>
                <a:lnTo>
                  <a:pt x="43200" y="0"/>
                </a:lnTo>
                <a:lnTo>
                  <a:pt x="387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1" name="Shape 1102"/>
          <p:cNvSpPr>
            <a:spLocks noChangeArrowheads="1" noGrp="1"/>
          </p:cNvSpPr>
          <p:nvPr userDrawn="1"/>
        </p:nvSpPr>
        <p:spPr bwMode="auto">
          <a:xfrm>
            <a:off x="5210783" y="5231805"/>
            <a:ext cx="118169" cy="2263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0"/>
                </a:moveTo>
                <a:lnTo>
                  <a:pt x="43200" y="43200"/>
                </a:lnTo>
                <a:lnTo>
                  <a:pt x="0" y="21623"/>
                </a:lnTo>
                <a:lnTo>
                  <a:pt x="43200" y="0"/>
                </a:lnTo>
              </a:path>
            </a:pathLst>
          </a:custGeom>
          <a:solidFill>
            <a:srgbClr val="FFFFFF"/>
          </a:solidFill>
          <a:ln w="9524" cap="rnd">
            <a:solidFill>
              <a:srgbClr val="000000"/>
            </a:solidFill>
            <a:bevel/>
            <a:headEnd/>
            <a:tailEnd/>
          </a:ln>
        </p:spPr>
      </p:sp>
      <p:sp>
        <p:nvSpPr>
          <p:cNvPr id="19" name="Text Placeholder 4"/>
          <p:cNvSpPr>
            <a:spLocks noGrp="1"/>
          </p:cNvSpPr>
          <p:nvPr>
            <p:ph type="subTitle" idx="1"/>
          </p:nvPr>
        </p:nvSpPr>
        <p:spPr bwMode="auto">
          <a:xfrm>
            <a:off x="5509239" y="4049057"/>
            <a:ext cx="1845357" cy="258968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171450" indent="-171450" algn="l">
              <a:buFont typeface="Arial"/>
              <a:buChar char="•"/>
              <a:defRPr sz="20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/>
              <a:t>Образец подзаголовка</a:t>
            </a:r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86700" y="4004094"/>
            <a:ext cx="4579923" cy="2577897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11" name="Дата 10"/>
          <p:cNvSpPr>
            <a:spLocks noGrp="1"/>
          </p:cNvSpPr>
          <p:nvPr>
            <p:ph type="dt" sz="half" idx="15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597412" y="6868445"/>
            <a:ext cx="6428422" cy="2122881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597412" y="4530307"/>
            <a:ext cx="6428422" cy="23381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505810" y="2486594"/>
            <a:ext cx="3212589" cy="70366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3844448" y="2486594"/>
            <a:ext cx="3212589" cy="70366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505810" y="2392573"/>
            <a:ext cx="3213903" cy="99710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505810" y="3389682"/>
            <a:ext cx="3213903" cy="61583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3841829" y="2392573"/>
            <a:ext cx="3215210" cy="99710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3841829" y="3389682"/>
            <a:ext cx="3215210" cy="61583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78149" y="425573"/>
            <a:ext cx="2488125" cy="1811129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2956863" y="425567"/>
            <a:ext cx="4227842" cy="91224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78149" y="2236702"/>
            <a:ext cx="2488125" cy="731132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505810" y="7482052"/>
            <a:ext cx="6551227" cy="88329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05810" y="955055"/>
            <a:ext cx="6551227" cy="641318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505810" y="8365343"/>
            <a:ext cx="6551227" cy="12544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5483066" y="428048"/>
            <a:ext cx="1701641" cy="9095238"/>
          </a:xfrm>
        </p:spPr>
        <p:txBody>
          <a:bodyPr vert="eaVert"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378142" y="428048"/>
            <a:ext cx="4978875" cy="9095238"/>
          </a:xfrm>
        </p:spPr>
        <p:txBody>
          <a:bodyPr vert="eaVert"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hape 1100"/>
          <p:cNvSpPr>
            <a:spLocks noChangeArrowheads="1" noGrp="1"/>
          </p:cNvSpPr>
          <p:nvPr userDrawn="1"/>
        </p:nvSpPr>
        <p:spPr bwMode="auto">
          <a:xfrm>
            <a:off x="2275" y="421"/>
            <a:ext cx="7558297" cy="10687796"/>
          </a:xfrm>
          <a:custGeom>
            <a:avLst/>
            <a:gdLst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1239 w 43199"/>
              <a:gd name="connsiteY2" fmla="*/ 21600 h 43200"/>
              <a:gd name="connsiteX3" fmla="*/ 43199 w 43199"/>
              <a:gd name="connsiteY3" fmla="*/ 19794 h 43200"/>
              <a:gd name="connsiteX4" fmla="*/ 43199 w 43199"/>
              <a:gd name="connsiteY4" fmla="*/ 19794 h 43200"/>
              <a:gd name="connsiteX5" fmla="*/ 43174 w 43199"/>
              <a:gd name="connsiteY5" fmla="*/ 19794 h 43200"/>
              <a:gd name="connsiteX6" fmla="*/ 43174 w 43199"/>
              <a:gd name="connsiteY6" fmla="*/ 0 h 43200"/>
              <a:gd name="connsiteX7" fmla="*/ 0 w 43199"/>
              <a:gd name="connsiteY7" fmla="*/ 0 h 43200"/>
              <a:gd name="connsiteX8" fmla="*/ 0 w 43199"/>
              <a:gd name="connsiteY8" fmla="*/ 43200 h 43200"/>
              <a:gd name="connsiteX9" fmla="*/ 43174 w 43199"/>
              <a:gd name="connsiteY9" fmla="*/ 43200 h 43200"/>
              <a:gd name="connsiteX10" fmla="*/ 43174 w 43199"/>
              <a:gd name="connsiteY10" fmla="*/ 23405 h 43200"/>
              <a:gd name="connsiteX11" fmla="*/ 43174 w 43199"/>
              <a:gd name="connsiteY11" fmla="*/ 23405 h 43200"/>
              <a:gd name="connsiteX12" fmla="*/ 43199 w 43199"/>
              <a:gd name="connsiteY12" fmla="*/ 23405 h 43200"/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11" fmla="*/ 43199 w 43199"/>
              <a:gd name="connsiteY11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9" fmla="*/ 43174 w 43199"/>
              <a:gd name="connsiteY9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74 w 43199"/>
              <a:gd name="connsiteY3" fmla="*/ 0 h 43200"/>
              <a:gd name="connsiteX4" fmla="*/ 0 w 43199"/>
              <a:gd name="connsiteY4" fmla="*/ 0 h 43200"/>
              <a:gd name="connsiteX5" fmla="*/ 0 w 43199"/>
              <a:gd name="connsiteY5" fmla="*/ 43200 h 43200"/>
              <a:gd name="connsiteX6" fmla="*/ 43174 w 43199"/>
              <a:gd name="connsiteY6" fmla="*/ 43200 h 43200"/>
              <a:gd name="connsiteX0" fmla="*/ 43174 w 46380"/>
              <a:gd name="connsiteY0" fmla="*/ 43200 h 43200"/>
              <a:gd name="connsiteX1" fmla="*/ 43199 w 46380"/>
              <a:gd name="connsiteY1" fmla="*/ 19794 h 43200"/>
              <a:gd name="connsiteX2" fmla="*/ 43174 w 46380"/>
              <a:gd name="connsiteY2" fmla="*/ 0 h 43200"/>
              <a:gd name="connsiteX3" fmla="*/ 0 w 46380"/>
              <a:gd name="connsiteY3" fmla="*/ 0 h 43200"/>
              <a:gd name="connsiteX4" fmla="*/ 0 w 46380"/>
              <a:gd name="connsiteY4" fmla="*/ 43200 h 43200"/>
              <a:gd name="connsiteX5" fmla="*/ 43174 w 46380"/>
              <a:gd name="connsiteY5" fmla="*/ 43200 h 43200"/>
              <a:gd name="connsiteX0" fmla="*/ 43174 w 43199"/>
              <a:gd name="connsiteY0" fmla="*/ 43200 h 43200"/>
              <a:gd name="connsiteX1" fmla="*/ 43199 w 43199"/>
              <a:gd name="connsiteY1" fmla="*/ 19794 h 43200"/>
              <a:gd name="connsiteX2" fmla="*/ 43174 w 43199"/>
              <a:gd name="connsiteY2" fmla="*/ 0 h 43200"/>
              <a:gd name="connsiteX3" fmla="*/ 0 w 43199"/>
              <a:gd name="connsiteY3" fmla="*/ 0 h 43200"/>
              <a:gd name="connsiteX4" fmla="*/ 0 w 43199"/>
              <a:gd name="connsiteY4" fmla="*/ 43200 h 43200"/>
              <a:gd name="connsiteX5" fmla="*/ 43174 w 43199"/>
              <a:gd name="connsiteY5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74" h="43200" fill="norm" stroke="0" extrusionOk="0">
                <a:moveTo>
                  <a:pt x="43174" y="43200"/>
                </a:moveTo>
                <a:lnTo>
                  <a:pt x="43174" y="0"/>
                </a:lnTo>
                <a:lnTo>
                  <a:pt x="0" y="0"/>
                </a:lnTo>
                <a:lnTo>
                  <a:pt x="0" y="43200"/>
                </a:lnTo>
                <a:lnTo>
                  <a:pt x="43174" y="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" name="Shape 1103"/>
          <p:cNvSpPr>
            <a:spLocks noChangeArrowheads="1" noGrp="1"/>
          </p:cNvSpPr>
          <p:nvPr userDrawn="1"/>
        </p:nvSpPr>
        <p:spPr bwMode="auto">
          <a:xfrm>
            <a:off x="113619" y="158586"/>
            <a:ext cx="4831995" cy="912990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9"/>
                  <a:pt x="33448" y="43199"/>
                  <a:pt x="21600" y="43199"/>
                </a:cubicBezTo>
                <a:lnTo>
                  <a:pt x="21600" y="43199"/>
                </a:lnTo>
                <a:cubicBezTo>
                  <a:pt x="9749" y="43199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600" y="0"/>
                </a:cubicBezTo>
                <a:lnTo>
                  <a:pt x="21600" y="0"/>
                </a:lnTo>
                <a:cubicBezTo>
                  <a:pt x="33448" y="0"/>
                  <a:pt x="43199" y="9750"/>
                  <a:pt x="43199" y="21599"/>
                </a:cubicBezTo>
              </a:path>
            </a:pathLst>
          </a:custGeom>
          <a:solidFill>
            <a:srgbClr val="FFFFFF">
              <a:alpha val="156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" name="Shape 1104"/>
          <p:cNvSpPr>
            <a:spLocks noChangeArrowheads="1" noGrp="1"/>
          </p:cNvSpPr>
          <p:nvPr userDrawn="1"/>
        </p:nvSpPr>
        <p:spPr bwMode="auto">
          <a:xfrm>
            <a:off x="151958" y="203118"/>
            <a:ext cx="4720828" cy="89203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313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" name="Shape 1105"/>
          <p:cNvSpPr>
            <a:spLocks noChangeArrowheads="1" noGrp="1"/>
          </p:cNvSpPr>
          <p:nvPr userDrawn="1"/>
        </p:nvSpPr>
        <p:spPr bwMode="auto">
          <a:xfrm>
            <a:off x="190121" y="247896"/>
            <a:ext cx="4610011" cy="871055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50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50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" name="Shape 1106"/>
          <p:cNvSpPr>
            <a:spLocks noChangeArrowheads="1" noGrp="1"/>
          </p:cNvSpPr>
          <p:nvPr userDrawn="1"/>
        </p:nvSpPr>
        <p:spPr bwMode="auto">
          <a:xfrm>
            <a:off x="228287" y="292679"/>
            <a:ext cx="4499019" cy="850100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7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7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627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" name="Shape 1107"/>
          <p:cNvSpPr>
            <a:spLocks noChangeArrowheads="1" noGrp="1"/>
          </p:cNvSpPr>
          <p:nvPr userDrawn="1"/>
        </p:nvSpPr>
        <p:spPr bwMode="auto">
          <a:xfrm>
            <a:off x="266449" y="337210"/>
            <a:ext cx="4388203" cy="829145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8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51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51"/>
                  <a:pt x="9751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" name="Shape 1108"/>
          <p:cNvSpPr>
            <a:spLocks noChangeArrowheads="1" noGrp="1"/>
          </p:cNvSpPr>
          <p:nvPr userDrawn="1"/>
        </p:nvSpPr>
        <p:spPr bwMode="auto">
          <a:xfrm>
            <a:off x="304788" y="381989"/>
            <a:ext cx="4277036" cy="808165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941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" name="Shape 1109"/>
          <p:cNvSpPr>
            <a:spLocks noChangeArrowheads="1" noGrp="1"/>
          </p:cNvSpPr>
          <p:nvPr userDrawn="1"/>
        </p:nvSpPr>
        <p:spPr bwMode="auto">
          <a:xfrm>
            <a:off x="342956" y="426768"/>
            <a:ext cx="4166044" cy="787186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49" y="43199"/>
                  <a:pt x="21600" y="43199"/>
                </a:cubicBezTo>
                <a:lnTo>
                  <a:pt x="21600" y="43199"/>
                </a:lnTo>
                <a:cubicBezTo>
                  <a:pt x="9750" y="43199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8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8"/>
                  <a:pt x="43200" y="21600"/>
                </a:cubicBezTo>
              </a:path>
            </a:pathLst>
          </a:custGeom>
          <a:solidFill>
            <a:srgbClr val="FFFFFF">
              <a:alpha val="1098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" name="Shape 1110"/>
          <p:cNvSpPr>
            <a:spLocks noChangeArrowheads="1" noGrp="1"/>
          </p:cNvSpPr>
          <p:nvPr userDrawn="1"/>
        </p:nvSpPr>
        <p:spPr bwMode="auto">
          <a:xfrm>
            <a:off x="381118" y="471303"/>
            <a:ext cx="4055227" cy="766230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199" y="9751"/>
                  <a:pt x="43199" y="21600"/>
                </a:cubicBezTo>
              </a:path>
            </a:pathLst>
          </a:custGeom>
          <a:solidFill>
            <a:srgbClr val="FFFFFF">
              <a:alpha val="1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" name="Shape 1111"/>
          <p:cNvSpPr>
            <a:spLocks noChangeArrowheads="1" noGrp="1"/>
          </p:cNvSpPr>
          <p:nvPr userDrawn="1"/>
        </p:nvSpPr>
        <p:spPr bwMode="auto">
          <a:xfrm>
            <a:off x="419457" y="516084"/>
            <a:ext cx="3944061" cy="745251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199"/>
                  <a:pt x="21598" y="43199"/>
                </a:cubicBezTo>
                <a:lnTo>
                  <a:pt x="21598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8" y="0"/>
                </a:cubicBezTo>
                <a:lnTo>
                  <a:pt x="21598" y="0"/>
                </a:lnTo>
                <a:cubicBezTo>
                  <a:pt x="33449" y="0"/>
                  <a:pt x="43199" y="9750"/>
                  <a:pt x="43199" y="21600"/>
                </a:cubicBezTo>
              </a:path>
            </a:pathLst>
          </a:custGeom>
          <a:solidFill>
            <a:srgbClr val="FFFFFF">
              <a:alpha val="1411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" name="Shape 1112"/>
          <p:cNvSpPr>
            <a:spLocks noChangeArrowheads="1" noGrp="1"/>
          </p:cNvSpPr>
          <p:nvPr userDrawn="1"/>
        </p:nvSpPr>
        <p:spPr bwMode="auto">
          <a:xfrm>
            <a:off x="457624" y="560860"/>
            <a:ext cx="3833068" cy="7242713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199"/>
                  <a:pt x="21599" y="43199"/>
                </a:cubicBezTo>
                <a:lnTo>
                  <a:pt x="21599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15686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" name="Shape 1113"/>
          <p:cNvSpPr>
            <a:spLocks noChangeArrowheads="1" noGrp="1"/>
          </p:cNvSpPr>
          <p:nvPr userDrawn="1"/>
        </p:nvSpPr>
        <p:spPr bwMode="auto">
          <a:xfrm>
            <a:off x="495786" y="605643"/>
            <a:ext cx="3722252" cy="70329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1764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" name="Shape 1114"/>
          <p:cNvSpPr>
            <a:spLocks noChangeArrowheads="1" noGrp="1"/>
          </p:cNvSpPr>
          <p:nvPr userDrawn="1"/>
        </p:nvSpPr>
        <p:spPr bwMode="auto">
          <a:xfrm>
            <a:off x="533950" y="650176"/>
            <a:ext cx="3611260" cy="682336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1921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" name="Shape 1115"/>
          <p:cNvSpPr>
            <a:spLocks noChangeArrowheads="1" noGrp="1"/>
          </p:cNvSpPr>
          <p:nvPr userDrawn="1"/>
        </p:nvSpPr>
        <p:spPr bwMode="auto">
          <a:xfrm>
            <a:off x="572292" y="694955"/>
            <a:ext cx="3500268" cy="66138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48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8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0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" name="Shape 1116"/>
          <p:cNvSpPr>
            <a:spLocks noChangeArrowheads="1" noGrp="1"/>
          </p:cNvSpPr>
          <p:nvPr userDrawn="1"/>
        </p:nvSpPr>
        <p:spPr bwMode="auto">
          <a:xfrm>
            <a:off x="610454" y="739731"/>
            <a:ext cx="3389276" cy="640401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8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199" y="9749"/>
                  <a:pt x="43199" y="21599"/>
                </a:cubicBezTo>
              </a:path>
            </a:pathLst>
          </a:custGeom>
          <a:solidFill>
            <a:srgbClr val="FFFFFF">
              <a:alpha val="2235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2" name="Shape 1117"/>
          <p:cNvSpPr>
            <a:spLocks noChangeArrowheads="1" noGrp="1"/>
          </p:cNvSpPr>
          <p:nvPr userDrawn="1"/>
        </p:nvSpPr>
        <p:spPr bwMode="auto">
          <a:xfrm>
            <a:off x="648619" y="784265"/>
            <a:ext cx="3278285" cy="619446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50" y="43200"/>
                  <a:pt x="21599" y="43200"/>
                </a:cubicBezTo>
                <a:lnTo>
                  <a:pt x="21599" y="43200"/>
                </a:lnTo>
                <a:cubicBezTo>
                  <a:pt x="9751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51" y="0"/>
                  <a:pt x="21599" y="0"/>
                </a:cubicBezTo>
                <a:lnTo>
                  <a:pt x="21599" y="0"/>
                </a:lnTo>
                <a:cubicBezTo>
                  <a:pt x="33450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392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3" name="Shape 1118"/>
          <p:cNvSpPr>
            <a:spLocks noChangeArrowheads="1" noGrp="1"/>
          </p:cNvSpPr>
          <p:nvPr userDrawn="1"/>
        </p:nvSpPr>
        <p:spPr bwMode="auto">
          <a:xfrm>
            <a:off x="686960" y="829048"/>
            <a:ext cx="3167292" cy="598467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2549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4" name="Shape 1119"/>
          <p:cNvSpPr>
            <a:spLocks noChangeArrowheads="1" noGrp="1"/>
          </p:cNvSpPr>
          <p:nvPr userDrawn="1"/>
        </p:nvSpPr>
        <p:spPr bwMode="auto">
          <a:xfrm>
            <a:off x="725122" y="873824"/>
            <a:ext cx="3056301" cy="5774873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9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600"/>
                </a:cubicBezTo>
              </a:path>
            </a:pathLst>
          </a:custGeom>
          <a:solidFill>
            <a:srgbClr val="FFFFFF">
              <a:alpha val="2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5" name="Shape 1120"/>
          <p:cNvSpPr>
            <a:spLocks noChangeArrowheads="1" noGrp="1"/>
          </p:cNvSpPr>
          <p:nvPr userDrawn="1"/>
        </p:nvSpPr>
        <p:spPr bwMode="auto">
          <a:xfrm>
            <a:off x="1255050" y="7922330"/>
            <a:ext cx="733175" cy="1385453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4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33"/>
                  <a:pt x="33534" y="43200"/>
                  <a:pt x="21600" y="43200"/>
                </a:cubicBezTo>
                <a:lnTo>
                  <a:pt x="21600" y="43200"/>
                </a:lnTo>
                <a:cubicBezTo>
                  <a:pt x="9665" y="43200"/>
                  <a:pt x="0" y="33533"/>
                  <a:pt x="0" y="21599"/>
                </a:cubicBezTo>
                <a:lnTo>
                  <a:pt x="0" y="21599"/>
                </a:lnTo>
                <a:cubicBezTo>
                  <a:pt x="0" y="9673"/>
                  <a:pt x="9665" y="0"/>
                  <a:pt x="21600" y="0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6" name="Shape 1121"/>
          <p:cNvSpPr>
            <a:spLocks noChangeArrowheads="1" noGrp="1"/>
          </p:cNvSpPr>
          <p:nvPr userDrawn="1"/>
        </p:nvSpPr>
        <p:spPr bwMode="auto">
          <a:xfrm>
            <a:off x="1768515" y="7038113"/>
            <a:ext cx="1159461" cy="219074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6" y="0"/>
                </a:moveTo>
                <a:lnTo>
                  <a:pt x="21596" y="0"/>
                </a:lnTo>
                <a:cubicBezTo>
                  <a:pt x="33526" y="0"/>
                  <a:pt x="43200" y="9669"/>
                  <a:pt x="43200" y="21601"/>
                </a:cubicBezTo>
                <a:lnTo>
                  <a:pt x="43200" y="21601"/>
                </a:lnTo>
                <a:cubicBezTo>
                  <a:pt x="43200" y="33530"/>
                  <a:pt x="33526" y="43200"/>
                  <a:pt x="21596" y="43200"/>
                </a:cubicBezTo>
                <a:lnTo>
                  <a:pt x="21596" y="43200"/>
                </a:lnTo>
                <a:cubicBezTo>
                  <a:pt x="9673" y="43200"/>
                  <a:pt x="0" y="33530"/>
                  <a:pt x="0" y="21601"/>
                </a:cubicBezTo>
                <a:lnTo>
                  <a:pt x="0" y="21601"/>
                </a:lnTo>
                <a:cubicBezTo>
                  <a:pt x="0" y="9669"/>
                  <a:pt x="9673" y="0"/>
                  <a:pt x="21596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9" name="Shape 1124"/>
          <p:cNvSpPr>
            <a:spLocks noChangeArrowheads="1" noGrp="1"/>
          </p:cNvSpPr>
          <p:nvPr userDrawn="1"/>
        </p:nvSpPr>
        <p:spPr bwMode="auto">
          <a:xfrm>
            <a:off x="1884409" y="6947812"/>
            <a:ext cx="518544" cy="97996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0" y="0"/>
                  <a:pt x="43200" y="9672"/>
                  <a:pt x="43200" y="21604"/>
                </a:cubicBezTo>
                <a:lnTo>
                  <a:pt x="43200" y="21604"/>
                </a:lnTo>
                <a:cubicBezTo>
                  <a:pt x="43200" y="33525"/>
                  <a:pt x="33530" y="43200"/>
                  <a:pt x="21600" y="43200"/>
                </a:cubicBezTo>
                <a:lnTo>
                  <a:pt x="21600" y="43200"/>
                </a:lnTo>
                <a:cubicBezTo>
                  <a:pt x="9669" y="43200"/>
                  <a:pt x="0" y="33525"/>
                  <a:pt x="0" y="21604"/>
                </a:cubicBezTo>
                <a:lnTo>
                  <a:pt x="0" y="21604"/>
                </a:lnTo>
                <a:cubicBezTo>
                  <a:pt x="0" y="9672"/>
                  <a:pt x="9669" y="0"/>
                  <a:pt x="21600" y="0"/>
                </a:cubicBezTo>
                <a:close/>
              </a:path>
            </a:pathLst>
          </a:custGeom>
          <a:solidFill>
            <a:srgbClr val="FFFFFF">
              <a:alpha val="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0" name="Shape 1125"/>
          <p:cNvSpPr>
            <a:spLocks noChangeArrowheads="1" noGrp="1"/>
          </p:cNvSpPr>
          <p:nvPr userDrawn="1"/>
        </p:nvSpPr>
        <p:spPr bwMode="auto">
          <a:xfrm>
            <a:off x="630237" y="7189772"/>
            <a:ext cx="425410" cy="80356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27" y="0"/>
                  <a:pt x="43200" y="9668"/>
                  <a:pt x="43200" y="21599"/>
                </a:cubicBezTo>
                <a:lnTo>
                  <a:pt x="43200" y="21599"/>
                </a:lnTo>
                <a:cubicBezTo>
                  <a:pt x="43200" y="33530"/>
                  <a:pt x="33527" y="43200"/>
                  <a:pt x="21599" y="43200"/>
                </a:cubicBezTo>
                <a:lnTo>
                  <a:pt x="21599" y="43200"/>
                </a:lnTo>
                <a:cubicBezTo>
                  <a:pt x="9671" y="43200"/>
                  <a:pt x="0" y="33530"/>
                  <a:pt x="0" y="21599"/>
                </a:cubicBezTo>
                <a:lnTo>
                  <a:pt x="0" y="21599"/>
                </a:lnTo>
                <a:cubicBezTo>
                  <a:pt x="0" y="9668"/>
                  <a:pt x="9671" y="0"/>
                  <a:pt x="21599" y="0"/>
                </a:cubicBezTo>
                <a:close/>
              </a:path>
            </a:pathLst>
          </a:custGeom>
          <a:solidFill>
            <a:srgbClr val="FFFFFF">
              <a:alpha val="4509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3" name="Shape 1138"/>
          <p:cNvSpPr>
            <a:spLocks noChangeArrowheads="1" noGrp="1"/>
          </p:cNvSpPr>
          <p:nvPr userDrawn="1"/>
        </p:nvSpPr>
        <p:spPr bwMode="auto">
          <a:xfrm>
            <a:off x="1433792" y="6815450"/>
            <a:ext cx="494035" cy="93344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5"/>
                  <a:pt x="43200" y="21594"/>
                </a:cubicBezTo>
                <a:lnTo>
                  <a:pt x="43200" y="21594"/>
                </a:lnTo>
                <a:cubicBezTo>
                  <a:pt x="43200" y="33524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24"/>
                  <a:pt x="0" y="21594"/>
                </a:cubicBezTo>
                <a:lnTo>
                  <a:pt x="0" y="21594"/>
                </a:lnTo>
                <a:cubicBezTo>
                  <a:pt x="0" y="9675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4" name="Shape 1139"/>
          <p:cNvSpPr>
            <a:spLocks noChangeArrowheads="1" noGrp="1"/>
          </p:cNvSpPr>
          <p:nvPr userDrawn="1"/>
        </p:nvSpPr>
        <p:spPr bwMode="auto">
          <a:xfrm>
            <a:off x="1022562" y="7370623"/>
            <a:ext cx="468650" cy="885453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33" y="0"/>
                  <a:pt x="43200" y="9668"/>
                  <a:pt x="43200" y="21593"/>
                </a:cubicBezTo>
                <a:lnTo>
                  <a:pt x="43200" y="21593"/>
                </a:lnTo>
                <a:cubicBezTo>
                  <a:pt x="43200" y="33519"/>
                  <a:pt x="33533" y="43200"/>
                  <a:pt x="21608" y="43200"/>
                </a:cubicBezTo>
                <a:lnTo>
                  <a:pt x="21608" y="43200"/>
                </a:lnTo>
                <a:cubicBezTo>
                  <a:pt x="9682" y="43200"/>
                  <a:pt x="0" y="33519"/>
                  <a:pt x="0" y="21593"/>
                </a:cubicBezTo>
                <a:lnTo>
                  <a:pt x="0" y="21593"/>
                </a:lnTo>
                <a:cubicBezTo>
                  <a:pt x="0" y="9668"/>
                  <a:pt x="9682" y="0"/>
                  <a:pt x="21608" y="0"/>
                </a:cubicBezTo>
                <a:close/>
              </a:path>
            </a:pathLst>
          </a:custGeom>
          <a:solidFill>
            <a:srgbClr val="FFFFFF">
              <a:alpha val="2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5" name="Shape 1140"/>
          <p:cNvSpPr>
            <a:spLocks noChangeArrowheads="1" noGrp="1"/>
          </p:cNvSpPr>
          <p:nvPr userDrawn="1"/>
        </p:nvSpPr>
        <p:spPr bwMode="auto">
          <a:xfrm>
            <a:off x="934501" y="8396107"/>
            <a:ext cx="467250" cy="88273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7" y="0"/>
                </a:moveTo>
                <a:lnTo>
                  <a:pt x="21607" y="0"/>
                </a:lnTo>
                <a:cubicBezTo>
                  <a:pt x="33536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26"/>
                  <a:pt x="33536" y="43200"/>
                  <a:pt x="21607" y="43200"/>
                </a:cubicBezTo>
                <a:lnTo>
                  <a:pt x="21607" y="43200"/>
                </a:lnTo>
                <a:cubicBezTo>
                  <a:pt x="9679" y="43200"/>
                  <a:pt x="0" y="33526"/>
                  <a:pt x="0" y="21599"/>
                </a:cubicBezTo>
                <a:lnTo>
                  <a:pt x="0" y="21599"/>
                </a:lnTo>
                <a:cubicBezTo>
                  <a:pt x="0" y="9673"/>
                  <a:pt x="9679" y="0"/>
                  <a:pt x="21607" y="0"/>
                </a:cubicBezTo>
                <a:close/>
              </a:path>
            </a:pathLst>
          </a:custGeom>
          <a:solidFill>
            <a:srgbClr val="FFFFFF">
              <a:alpha val="3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6" name="Shape 1141"/>
          <p:cNvSpPr>
            <a:spLocks noChangeArrowheads="1" noGrp="1"/>
          </p:cNvSpPr>
          <p:nvPr userDrawn="1"/>
        </p:nvSpPr>
        <p:spPr bwMode="auto">
          <a:xfrm>
            <a:off x="1470203" y="9125451"/>
            <a:ext cx="554258" cy="104725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4"/>
                  <a:pt x="43200" y="21605"/>
                </a:cubicBezTo>
                <a:lnTo>
                  <a:pt x="43200" y="21605"/>
                </a:lnTo>
                <a:cubicBezTo>
                  <a:pt x="43200" y="33535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35"/>
                  <a:pt x="0" y="21605"/>
                </a:cubicBezTo>
                <a:lnTo>
                  <a:pt x="0" y="21605"/>
                </a:lnTo>
                <a:cubicBezTo>
                  <a:pt x="0" y="9674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7" name="Shape 1142"/>
          <p:cNvSpPr>
            <a:spLocks noChangeArrowheads="1" noGrp="1"/>
          </p:cNvSpPr>
          <p:nvPr userDrawn="1"/>
        </p:nvSpPr>
        <p:spPr bwMode="auto">
          <a:xfrm>
            <a:off x="1390726" y="9732431"/>
            <a:ext cx="426985" cy="80702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1" y="0"/>
                </a:moveTo>
                <a:lnTo>
                  <a:pt x="21591" y="0"/>
                </a:lnTo>
                <a:cubicBezTo>
                  <a:pt x="33528" y="0"/>
                  <a:pt x="43198" y="9667"/>
                  <a:pt x="43198" y="21600"/>
                </a:cubicBezTo>
                <a:lnTo>
                  <a:pt x="43198" y="21600"/>
                </a:lnTo>
                <a:cubicBezTo>
                  <a:pt x="43198" y="33519"/>
                  <a:pt x="33528" y="43200"/>
                  <a:pt x="21591" y="43200"/>
                </a:cubicBezTo>
                <a:lnTo>
                  <a:pt x="21591" y="43200"/>
                </a:lnTo>
                <a:cubicBezTo>
                  <a:pt x="9670" y="43200"/>
                  <a:pt x="0" y="33519"/>
                  <a:pt x="0" y="21600"/>
                </a:cubicBezTo>
                <a:lnTo>
                  <a:pt x="0" y="21600"/>
                </a:lnTo>
                <a:cubicBezTo>
                  <a:pt x="0" y="9667"/>
                  <a:pt x="9670" y="0"/>
                  <a:pt x="21591" y="0"/>
                </a:cubicBezTo>
                <a:close/>
              </a:path>
            </a:pathLst>
          </a:custGeom>
          <a:solidFill>
            <a:srgbClr val="FFFFFF">
              <a:alpha val="3097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8" name="Shape 1143"/>
          <p:cNvSpPr>
            <a:spLocks noChangeArrowheads="1" noGrp="1"/>
          </p:cNvSpPr>
          <p:nvPr userDrawn="1"/>
        </p:nvSpPr>
        <p:spPr bwMode="auto">
          <a:xfrm>
            <a:off x="2231215" y="9296404"/>
            <a:ext cx="450619" cy="85131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31" y="0"/>
                  <a:pt x="43200" y="9666"/>
                  <a:pt x="43200" y="21605"/>
                </a:cubicBezTo>
                <a:lnTo>
                  <a:pt x="43200" y="21605"/>
                </a:lnTo>
                <a:cubicBezTo>
                  <a:pt x="43200" y="33533"/>
                  <a:pt x="33531" y="43200"/>
                  <a:pt x="21599" y="43200"/>
                </a:cubicBezTo>
                <a:lnTo>
                  <a:pt x="21599" y="43200"/>
                </a:lnTo>
                <a:cubicBezTo>
                  <a:pt x="9666" y="43200"/>
                  <a:pt x="0" y="33533"/>
                  <a:pt x="0" y="21605"/>
                </a:cubicBezTo>
                <a:lnTo>
                  <a:pt x="0" y="21605"/>
                </a:lnTo>
                <a:cubicBezTo>
                  <a:pt x="0" y="9666"/>
                  <a:pt x="9666" y="0"/>
                  <a:pt x="21599" y="0"/>
                </a:cubicBezTo>
                <a:close/>
              </a:path>
            </a:pathLst>
          </a:custGeom>
          <a:solidFill>
            <a:srgbClr val="FFFFFF">
              <a:alpha val="6745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9" name="Shape 1144"/>
          <p:cNvSpPr>
            <a:spLocks noChangeArrowheads="1" noGrp="1"/>
          </p:cNvSpPr>
          <p:nvPr userDrawn="1"/>
        </p:nvSpPr>
        <p:spPr bwMode="auto">
          <a:xfrm>
            <a:off x="1884412" y="8694720"/>
            <a:ext cx="606603" cy="114596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6" y="0"/>
                </a:moveTo>
                <a:lnTo>
                  <a:pt x="21606" y="0"/>
                </a:lnTo>
                <a:cubicBezTo>
                  <a:pt x="33524" y="0"/>
                  <a:pt x="43200" y="9671"/>
                  <a:pt x="43200" y="21599"/>
                </a:cubicBezTo>
                <a:lnTo>
                  <a:pt x="43200" y="21599"/>
                </a:lnTo>
                <a:cubicBezTo>
                  <a:pt x="43200" y="33528"/>
                  <a:pt x="33524" y="43200"/>
                  <a:pt x="21606" y="43200"/>
                </a:cubicBezTo>
                <a:lnTo>
                  <a:pt x="21606" y="43200"/>
                </a:lnTo>
                <a:cubicBezTo>
                  <a:pt x="9674" y="43200"/>
                  <a:pt x="0" y="33528"/>
                  <a:pt x="0" y="21599"/>
                </a:cubicBezTo>
                <a:lnTo>
                  <a:pt x="0" y="21599"/>
                </a:lnTo>
                <a:cubicBezTo>
                  <a:pt x="0" y="9671"/>
                  <a:pt x="9674" y="0"/>
                  <a:pt x="21606" y="0"/>
                </a:cubicBezTo>
                <a:close/>
              </a:path>
            </a:pathLst>
          </a:custGeom>
          <a:solidFill>
            <a:srgbClr val="FFFFFF">
              <a:alpha val="3137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2" name="Shape 1147"/>
          <p:cNvSpPr>
            <a:spLocks noChangeArrowheads="1" noGrp="1"/>
          </p:cNvSpPr>
          <p:nvPr userDrawn="1"/>
        </p:nvSpPr>
        <p:spPr bwMode="auto">
          <a:xfrm>
            <a:off x="1618836" y="57398"/>
            <a:ext cx="466725" cy="88198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41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41" y="43200"/>
                  <a:pt x="21600" y="43200"/>
                </a:cubicBezTo>
                <a:lnTo>
                  <a:pt x="21600" y="43200"/>
                </a:lnTo>
                <a:cubicBezTo>
                  <a:pt x="9673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3" y="0"/>
                  <a:pt x="21600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3" name="Shape 1148"/>
          <p:cNvSpPr>
            <a:spLocks noChangeArrowheads="1" noGrp="1"/>
          </p:cNvSpPr>
          <p:nvPr userDrawn="1"/>
        </p:nvSpPr>
        <p:spPr bwMode="auto">
          <a:xfrm>
            <a:off x="1409458" y="55665"/>
            <a:ext cx="464449" cy="87753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27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27" y="43200"/>
                  <a:pt x="21608" y="43200"/>
                </a:cubicBezTo>
                <a:lnTo>
                  <a:pt x="21608" y="43200"/>
                </a:lnTo>
                <a:cubicBezTo>
                  <a:pt x="9672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2" y="0"/>
                  <a:pt x="21608" y="0"/>
                </a:cubicBezTo>
                <a:close/>
              </a:path>
            </a:pathLst>
          </a:custGeom>
          <a:solidFill>
            <a:srgbClr val="FFFFFF">
              <a:alpha val="1647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495786" y="2494021"/>
            <a:ext cx="6561252" cy="7054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505810" y="9906788"/>
            <a:ext cx="1764664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2583973" y="9906788"/>
            <a:ext cx="2394902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88700" y="428042"/>
            <a:ext cx="6568338" cy="1781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5329896" y="9906788"/>
            <a:ext cx="1727141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 b="1">
          <a:solidFill>
            <a:schemeClr val="accent6">
              <a:lumMod val="50000"/>
            </a:schemeClr>
          </a:solidFill>
          <a:latin typeface="+mj-lt"/>
          <a:ea typeface="+mj-ea"/>
          <a:cs typeface="Arial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a.aikesheva@aviainterior-sn.ru" TargetMode="External"/><Relationship Id="rId3" Type="http://schemas.openxmlformats.org/officeDocument/2006/relationships/hyperlink" Target="mailto:a.batushin@aviainterior-sn.ru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a.aikesheva@aviainterior-sn.ru" TargetMode="External"/><Relationship Id="rId3" Type="http://schemas.openxmlformats.org/officeDocument/2006/relationships/hyperlink" Target="mailto:a.batushin@aviainterior-sn.r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F6F3E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7562088" cy="1060704"/>
          </a:xfrm>
          <a:prstGeom prst="rect">
            <a:avLst/>
          </a:prstGeom>
          <a:solidFill>
            <a:srgbClr val="27527A"/>
          </a:solidFill>
          <a:ln>
            <a:solidFill>
              <a:srgbClr val="275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00">
              <a:latin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530352" y="201168"/>
            <a:ext cx="1846647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BE8937"/>
                </a:solidFill>
                <a:latin typeface="Calibri"/>
                <a:cs typeface="Calibri"/>
              </a:rPr>
              <a:t>ПАМЯТКА  ·  ОХРАНА ТРУДА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530352" y="475488"/>
            <a:ext cx="1552400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FFFFFF"/>
                </a:solidFill>
                <a:latin typeface="Calibri"/>
                <a:cs typeface="Calibri"/>
              </a:rPr>
              <a:t>всем</a:t>
            </a:r>
            <a:r>
              <a:rPr sz="1000" b="0" i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0" i="0">
                <a:solidFill>
                  <a:srgbClr val="FFFFFF"/>
                </a:solidFill>
                <a:latin typeface="Calibri"/>
                <a:cs typeface="Calibri"/>
              </a:rPr>
              <a:t>сотрудникам</a:t>
            </a:r>
            <a:r>
              <a:rPr sz="1000" b="0" i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0" i="0">
                <a:solidFill>
                  <a:srgbClr val="FFFFFF"/>
                </a:solidFill>
                <a:latin typeface="Calibri"/>
                <a:cs typeface="Calibri"/>
              </a:rPr>
              <a:t>компании</a:t>
            </a:r>
            <a:endParaRPr sz="1000" b="0" i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530352" y="704088"/>
            <a:ext cx="3448550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FFFFFF"/>
                </a:solidFill>
                <a:latin typeface="Calibri"/>
                <a:cs typeface="Calibri"/>
              </a:rPr>
              <a:t>Особое внимание: руководителям структурных подразделений.</a:t>
            </a:r>
            <a:endParaRPr/>
          </a:p>
        </p:txBody>
      </p:sp>
      <p:sp>
        <p:nvSpPr>
          <p:cNvPr id="7" name="Rectangle 6"/>
          <p:cNvSpPr/>
          <p:nvPr/>
        </p:nvSpPr>
        <p:spPr bwMode="auto">
          <a:xfrm>
            <a:off x="530352" y="914400"/>
            <a:ext cx="6492240" cy="22860"/>
          </a:xfrm>
          <a:prstGeom prst="rect">
            <a:avLst/>
          </a:prstGeom>
          <a:solidFill>
            <a:srgbClr val="BE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00">
              <a:latin typeface="Calibri"/>
              <a:cs typeface="Calibri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693408" y="210312"/>
            <a:ext cx="310896" cy="310896"/>
          </a:xfrm>
          <a:prstGeom prst="rect">
            <a:avLst/>
          </a:prstGeom>
          <a:noFill/>
          <a:ln w="13970">
            <a:solidFill>
              <a:srgbClr val="BE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00">
              <a:latin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 rot="10800000" flipV="1">
            <a:off x="530352" y="1158642"/>
            <a:ext cx="6264973" cy="152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000" b="1" i="0">
                <a:solidFill>
                  <a:srgbClr val="27527A"/>
                </a:solidFill>
                <a:latin typeface="Cambria"/>
                <a:cs typeface="Cambria"/>
              </a:rPr>
              <a:t>Немедленно</a:t>
            </a:r>
            <a:r>
              <a:rPr sz="1000" b="1" i="0">
                <a:solidFill>
                  <a:srgbClr val="27527A"/>
                </a:solidFill>
                <a:latin typeface="Cambria"/>
                <a:cs typeface="Cambria"/>
              </a:rPr>
              <a:t> </a:t>
            </a:r>
            <a:r>
              <a:rPr sz="1000" b="1" i="0">
                <a:solidFill>
                  <a:srgbClr val="27527A"/>
                </a:solidFill>
                <a:latin typeface="Cambria"/>
                <a:cs typeface="Cambria"/>
              </a:rPr>
              <a:t>сообщайте</a:t>
            </a:r>
            <a:r>
              <a:rPr sz="1000" b="1" i="0">
                <a:solidFill>
                  <a:srgbClr val="27527A"/>
                </a:solidFill>
                <a:latin typeface="Cambria"/>
                <a:cs typeface="Cambria"/>
              </a:rPr>
              <a:t> о </a:t>
            </a:r>
            <a:r>
              <a:rPr sz="1000" b="1" i="0">
                <a:solidFill>
                  <a:srgbClr val="27527A"/>
                </a:solidFill>
                <a:latin typeface="Cambria"/>
                <a:cs typeface="Cambria"/>
              </a:rPr>
              <a:t>любом</a:t>
            </a:r>
            <a:r>
              <a:rPr sz="1000" b="1" i="0">
                <a:solidFill>
                  <a:srgbClr val="27527A"/>
                </a:solidFill>
                <a:latin typeface="Cambria"/>
                <a:cs typeface="Cambria"/>
              </a:rPr>
              <a:t> </a:t>
            </a:r>
            <a:r>
              <a:rPr sz="1000" b="1" i="0">
                <a:solidFill>
                  <a:srgbClr val="27527A"/>
                </a:solidFill>
                <a:latin typeface="Cambria"/>
                <a:cs typeface="Cambria"/>
              </a:rPr>
              <a:t>происшествии</a:t>
            </a:r>
            <a:endParaRPr sz="1000" b="1" i="0">
              <a:solidFill>
                <a:srgbClr val="27527A"/>
              </a:solidFill>
              <a:latin typeface="Cambria"/>
              <a:cs typeface="Cambria"/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1618488" y="1412613"/>
            <a:ext cx="4101951" cy="366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200" b="0">
                <a:solidFill>
                  <a:srgbClr val="5B626B"/>
                </a:solidFill>
                <a:latin typeface="Cambria"/>
                <a:cs typeface="Cambria"/>
              </a:rPr>
              <a:t>Несчастные</a:t>
            </a:r>
            <a:r>
              <a:rPr sz="1200" b="0">
                <a:solidFill>
                  <a:srgbClr val="5B626B"/>
                </a:solidFill>
                <a:latin typeface="Cambria"/>
                <a:cs typeface="Cambria"/>
              </a:rPr>
              <a:t> </a:t>
            </a:r>
            <a:r>
              <a:rPr sz="1200" b="0">
                <a:solidFill>
                  <a:srgbClr val="5B626B"/>
                </a:solidFill>
                <a:latin typeface="Cambria"/>
                <a:cs typeface="Cambria"/>
              </a:rPr>
              <a:t>случаи</a:t>
            </a:r>
            <a:r>
              <a:rPr sz="1200" b="0">
                <a:solidFill>
                  <a:srgbClr val="5B626B"/>
                </a:solidFill>
                <a:latin typeface="Cambria"/>
                <a:cs typeface="Cambria"/>
              </a:rPr>
              <a:t>, </a:t>
            </a:r>
            <a:r>
              <a:rPr sz="1200" b="0">
                <a:solidFill>
                  <a:srgbClr val="5B626B"/>
                </a:solidFill>
                <a:latin typeface="Cambria"/>
                <a:cs typeface="Cambria"/>
              </a:rPr>
              <a:t>микротравмы</a:t>
            </a:r>
            <a:r>
              <a:rPr sz="1200" b="0">
                <a:solidFill>
                  <a:srgbClr val="5B626B"/>
                </a:solidFill>
                <a:latin typeface="Cambria"/>
                <a:cs typeface="Cambria"/>
              </a:rPr>
              <a:t> и </a:t>
            </a:r>
            <a:r>
              <a:rPr sz="1200" b="0">
                <a:solidFill>
                  <a:srgbClr val="5B626B"/>
                </a:solidFill>
                <a:latin typeface="Cambria"/>
                <a:cs typeface="Cambria"/>
              </a:rPr>
              <a:t>иные</a:t>
            </a:r>
            <a:r>
              <a:rPr sz="1200" b="0">
                <a:solidFill>
                  <a:srgbClr val="5B626B"/>
                </a:solidFill>
                <a:latin typeface="Cambria"/>
                <a:cs typeface="Cambria"/>
              </a:rPr>
              <a:t> </a:t>
            </a:r>
            <a:r>
              <a:rPr sz="1200" b="0">
                <a:solidFill>
                  <a:srgbClr val="5B626B"/>
                </a:solidFill>
                <a:latin typeface="Cambria"/>
                <a:cs typeface="Cambria"/>
              </a:rPr>
              <a:t>инциденты</a:t>
            </a:r>
            <a:r>
              <a:rPr sz="1200" b="0">
                <a:solidFill>
                  <a:srgbClr val="5B626B"/>
                </a:solidFill>
                <a:latin typeface="Cambria"/>
                <a:cs typeface="Cambria"/>
              </a:rPr>
              <a:t> </a:t>
            </a:r>
            <a:r>
              <a:rPr sz="1200" b="0">
                <a:solidFill>
                  <a:srgbClr val="5B626B"/>
                </a:solidFill>
                <a:latin typeface="Cambria"/>
                <a:cs typeface="Cambria"/>
              </a:rPr>
              <a:t>на</a:t>
            </a:r>
            <a:r>
              <a:rPr sz="1200" b="0">
                <a:solidFill>
                  <a:srgbClr val="5B626B"/>
                </a:solidFill>
                <a:latin typeface="Cambria"/>
                <a:cs typeface="Cambria"/>
              </a:rPr>
              <a:t> </a:t>
            </a:r>
            <a:r>
              <a:rPr sz="1200" b="0">
                <a:solidFill>
                  <a:srgbClr val="5B626B"/>
                </a:solidFill>
                <a:latin typeface="Cambria"/>
                <a:cs typeface="Cambria"/>
              </a:rPr>
              <a:t>производстве</a:t>
            </a:r>
            <a:endParaRPr sz="1200" b="0">
              <a:solidFill>
                <a:srgbClr val="5B626B"/>
              </a:solidFill>
              <a:latin typeface="Cambria"/>
              <a:cs typeface="Cambria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500246" y="1852842"/>
            <a:ext cx="6492240" cy="10972"/>
          </a:xfrm>
          <a:prstGeom prst="rect">
            <a:avLst/>
          </a:prstGeom>
          <a:solidFill>
            <a:srgbClr val="CF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00">
              <a:latin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 bwMode="auto">
          <a:xfrm>
            <a:off x="500245" y="1909267"/>
            <a:ext cx="6815314" cy="731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defRPr/>
            </a:pP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Своевременное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оповещение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о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происшествии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—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это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то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немногое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,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что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действительно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решает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исход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события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: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позволяет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быстро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оказать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помощь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,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устранить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опасность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до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того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,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как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она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повторится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, и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правильно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зафиксировать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обстоятельства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.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Промедление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или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умолчание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—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даже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из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лучших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побуждений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—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ставит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под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угрозу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здоровье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коллег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и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лишает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компанию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возможности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вовремя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 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отреагировать</a:t>
            </a:r>
            <a:r>
              <a:rPr sz="1200" b="0" i="0">
                <a:solidFill>
                  <a:srgbClr val="23282D"/>
                </a:solidFill>
                <a:latin typeface="Cambria"/>
                <a:cs typeface="Cambria"/>
              </a:rPr>
              <a:t>.</a:t>
            </a: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530352" y="3008376"/>
            <a:ext cx="3406619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27527A"/>
                </a:solidFill>
                <a:latin typeface="Calibri"/>
                <a:cs typeface="Calibri"/>
              </a:rPr>
              <a:t>П О Р Я Д О К  Д Е Й С Т В И Й  П Р И  И Н Ц И Д Е Н Т Е</a:t>
            </a:r>
            <a:endParaRPr/>
          </a:p>
        </p:txBody>
      </p:sp>
      <p:sp>
        <p:nvSpPr>
          <p:cNvPr id="15" name="Rectangle 14"/>
          <p:cNvSpPr/>
          <p:nvPr/>
        </p:nvSpPr>
        <p:spPr bwMode="auto">
          <a:xfrm>
            <a:off x="530352" y="3218688"/>
            <a:ext cx="6492240" cy="10972"/>
          </a:xfrm>
          <a:prstGeom prst="rect">
            <a:avLst/>
          </a:prstGeom>
          <a:solidFill>
            <a:srgbClr val="CF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00">
              <a:latin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566928" y="3328416"/>
            <a:ext cx="127717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000" b="1" i="0">
                <a:latin typeface="Cambria"/>
                <a:cs typeface="Cambria"/>
              </a:rPr>
              <a:t>01</a:t>
            </a: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1344168" y="3337560"/>
            <a:ext cx="114571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lang="ru-RU" sz="1000" b="0" i="0">
                <a:solidFill>
                  <a:srgbClr val="BE8937"/>
                </a:solidFill>
                <a:latin typeface="Calibri"/>
                <a:cs typeface="Calibri"/>
              </a:rPr>
              <a:t>♢</a:t>
            </a:r>
            <a:endParaRPr sz="1000" b="0" i="0">
              <a:solidFill>
                <a:srgbClr val="BE8937"/>
              </a:solidFill>
              <a:latin typeface="Calibri"/>
              <a:cs typeface="Calibri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1618488" y="3310128"/>
            <a:ext cx="5394960" cy="18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7527A"/>
                </a:solidFill>
                <a:latin typeface="Calibri"/>
                <a:cs typeface="Calibri"/>
              </a:rPr>
              <a:t>Оцените обстановку и обеспечьте безопасность</a:t>
            </a:r>
            <a:endParaRPr sz="1000" b="1" i="0">
              <a:solidFill>
                <a:srgbClr val="27527A"/>
              </a:solidFill>
              <a:latin typeface="Calibri"/>
              <a:cs typeface="Calibri"/>
            </a:endParaRPr>
          </a:p>
        </p:txBody>
      </p:sp>
      <p:sp>
        <p:nvSpPr>
          <p:cNvPr id="19" name="TextBox 18"/>
          <p:cNvSpPr txBox="1"/>
          <p:nvPr/>
        </p:nvSpPr>
        <p:spPr bwMode="auto">
          <a:xfrm>
            <a:off x="1618488" y="3520440"/>
            <a:ext cx="5440680" cy="152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Устраните опасность (остановите оборудование, отключите питание), если это безопасно.</a:t>
            </a:r>
            <a:endParaRPr/>
          </a:p>
        </p:txBody>
      </p:sp>
      <p:sp>
        <p:nvSpPr>
          <p:cNvPr id="20" name="Rectangle 19"/>
          <p:cNvSpPr/>
          <p:nvPr/>
        </p:nvSpPr>
        <p:spPr bwMode="auto">
          <a:xfrm>
            <a:off x="530352" y="3721608"/>
            <a:ext cx="6492240" cy="10972"/>
          </a:xfrm>
          <a:prstGeom prst="rect">
            <a:avLst/>
          </a:prstGeom>
          <a:solidFill>
            <a:srgbClr val="CF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00">
              <a:latin typeface="Calibri"/>
              <a:cs typeface="Calibri"/>
            </a:endParaRPr>
          </a:p>
        </p:txBody>
      </p:sp>
      <p:sp>
        <p:nvSpPr>
          <p:cNvPr id="21" name="TextBox 20"/>
          <p:cNvSpPr txBox="1"/>
          <p:nvPr/>
        </p:nvSpPr>
        <p:spPr bwMode="auto">
          <a:xfrm>
            <a:off x="566928" y="3785616"/>
            <a:ext cx="127717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B3261E"/>
                </a:solidFill>
                <a:latin typeface="Cambria"/>
                <a:cs typeface="Cambria"/>
              </a:rPr>
              <a:t>02</a:t>
            </a: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1344168" y="3794760"/>
            <a:ext cx="77180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B3261E"/>
                </a:solidFill>
                <a:latin typeface="Calibri"/>
                <a:cs typeface="Calibri"/>
              </a:rPr>
              <a:t>✚</a:t>
            </a: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1618488" y="3767328"/>
            <a:ext cx="5394960" cy="18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B3261E"/>
                </a:solidFill>
                <a:latin typeface="Calibri"/>
                <a:cs typeface="Calibri"/>
              </a:rPr>
              <a:t>Вызовите скорую помощь — 103 / 112</a:t>
            </a:r>
            <a:endParaRPr sz="1200" b="1" i="0">
              <a:solidFill>
                <a:srgbClr val="27527A"/>
              </a:solidFill>
              <a:latin typeface="Calibri"/>
              <a:cs typeface="Calibri"/>
            </a:endParaRPr>
          </a:p>
        </p:txBody>
      </p:sp>
      <p:sp>
        <p:nvSpPr>
          <p:cNvPr id="24" name="TextBox 23"/>
          <p:cNvSpPr txBox="1"/>
          <p:nvPr/>
        </p:nvSpPr>
        <p:spPr bwMode="auto">
          <a:xfrm>
            <a:off x="1618488" y="3977640"/>
            <a:ext cx="5440680" cy="152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23282D"/>
                </a:solidFill>
                <a:latin typeface="Calibri"/>
                <a:cs typeface="Calibri"/>
              </a:rPr>
              <a:t>При любом признаке из перечня на стр. 2 или при сомнении. Согласование не требуется.</a:t>
            </a:r>
            <a:endParaRPr/>
          </a:p>
        </p:txBody>
      </p:sp>
      <p:sp>
        <p:nvSpPr>
          <p:cNvPr id="25" name="Rectangle 24"/>
          <p:cNvSpPr/>
          <p:nvPr/>
        </p:nvSpPr>
        <p:spPr bwMode="auto">
          <a:xfrm>
            <a:off x="530352" y="4178808"/>
            <a:ext cx="6492240" cy="10972"/>
          </a:xfrm>
          <a:prstGeom prst="rect">
            <a:avLst/>
          </a:prstGeom>
          <a:solidFill>
            <a:srgbClr val="CF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00">
              <a:latin typeface="Calibri"/>
              <a:cs typeface="Calibri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566928" y="4242816"/>
            <a:ext cx="127717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000" b="1" i="0">
                <a:latin typeface="Cambria"/>
                <a:cs typeface="Cambria"/>
              </a:rPr>
              <a:t>03</a:t>
            </a: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1344168" y="4251960"/>
            <a:ext cx="77180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lang="ru-RU" sz="1000" b="0" i="0">
                <a:solidFill>
                  <a:srgbClr val="BE8937"/>
                </a:solidFill>
                <a:latin typeface="Calibri"/>
                <a:cs typeface="Calibri"/>
              </a:rPr>
              <a:t>♡</a:t>
            </a:r>
            <a:endParaRPr sz="1000" b="0" i="0">
              <a:solidFill>
                <a:srgbClr val="BE8937"/>
              </a:solidFill>
              <a:latin typeface="Calibri"/>
              <a:cs typeface="Calibri"/>
            </a:endParaRPr>
          </a:p>
        </p:txBody>
      </p:sp>
      <p:sp>
        <p:nvSpPr>
          <p:cNvPr id="28" name="TextBox 27"/>
          <p:cNvSpPr txBox="1"/>
          <p:nvPr/>
        </p:nvSpPr>
        <p:spPr bwMode="auto">
          <a:xfrm>
            <a:off x="1618488" y="4224528"/>
            <a:ext cx="5394960" cy="18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7527A"/>
                </a:solidFill>
                <a:latin typeface="Calibri"/>
                <a:cs typeface="Calibri"/>
              </a:rPr>
              <a:t>Окажите первую помощь</a:t>
            </a:r>
            <a:endParaRPr sz="1200" b="1" i="0">
              <a:solidFill>
                <a:srgbClr val="27527A"/>
              </a:solidFill>
              <a:latin typeface="Calibri"/>
              <a:cs typeface="Calibri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1618488" y="4434840"/>
            <a:ext cx="5440680" cy="152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До прибытия бригады скорой помощи. Не оставляйте пострадавшего одного.</a:t>
            </a:r>
            <a:endParaRPr/>
          </a:p>
        </p:txBody>
      </p:sp>
      <p:sp>
        <p:nvSpPr>
          <p:cNvPr id="30" name="Rectangle 29"/>
          <p:cNvSpPr/>
          <p:nvPr/>
        </p:nvSpPr>
        <p:spPr bwMode="auto">
          <a:xfrm>
            <a:off x="530352" y="4636008"/>
            <a:ext cx="6492240" cy="10972"/>
          </a:xfrm>
          <a:prstGeom prst="rect">
            <a:avLst/>
          </a:prstGeom>
          <a:solidFill>
            <a:srgbClr val="CF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00">
              <a:latin typeface="Calibri"/>
              <a:cs typeface="Calibri"/>
            </a:endParaRPr>
          </a:p>
        </p:txBody>
      </p:sp>
      <p:sp>
        <p:nvSpPr>
          <p:cNvPr id="31" name="TextBox 30"/>
          <p:cNvSpPr txBox="1"/>
          <p:nvPr/>
        </p:nvSpPr>
        <p:spPr bwMode="auto">
          <a:xfrm>
            <a:off x="566928" y="5614416"/>
            <a:ext cx="127717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000" b="1" i="0">
                <a:latin typeface="Cambria"/>
                <a:cs typeface="Cambria"/>
              </a:rPr>
              <a:t>06</a:t>
            </a:r>
            <a:endParaRPr/>
          </a:p>
        </p:txBody>
      </p:sp>
      <p:sp>
        <p:nvSpPr>
          <p:cNvPr id="32" name="TextBox 31"/>
          <p:cNvSpPr txBox="1"/>
          <p:nvPr/>
        </p:nvSpPr>
        <p:spPr bwMode="auto">
          <a:xfrm>
            <a:off x="1344168" y="5623560"/>
            <a:ext cx="111534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lang="ru-RU" sz="1000" b="0" i="0">
                <a:solidFill>
                  <a:srgbClr val="BE8937"/>
                </a:solidFill>
                <a:latin typeface="Calibri"/>
                <a:cs typeface="Calibri"/>
              </a:rPr>
              <a:t>◷</a:t>
            </a:r>
            <a:endParaRPr sz="1000" b="0" i="0">
              <a:solidFill>
                <a:srgbClr val="BE8937"/>
              </a:solidFill>
              <a:latin typeface="Calibri"/>
              <a:cs typeface="Calibri"/>
            </a:endParaRPr>
          </a:p>
        </p:txBody>
      </p:sp>
      <p:sp>
        <p:nvSpPr>
          <p:cNvPr id="33" name="TextBox 32"/>
          <p:cNvSpPr txBox="1"/>
          <p:nvPr/>
        </p:nvSpPr>
        <p:spPr bwMode="auto">
          <a:xfrm>
            <a:off x="1618488" y="5596128"/>
            <a:ext cx="5394960" cy="18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7527A"/>
                </a:solidFill>
                <a:latin typeface="Calibri"/>
                <a:cs typeface="Calibri"/>
              </a:rPr>
              <a:t>Сохраните обстановку на месте происшествия</a:t>
            </a:r>
            <a:endParaRPr sz="1200" b="1" i="0">
              <a:solidFill>
                <a:srgbClr val="27527A"/>
              </a:solidFill>
              <a:latin typeface="Calibri"/>
              <a:cs typeface="Calibri"/>
            </a:endParaRPr>
          </a:p>
        </p:txBody>
      </p:sp>
      <p:sp>
        <p:nvSpPr>
          <p:cNvPr id="34" name="TextBox 33"/>
          <p:cNvSpPr txBox="1"/>
          <p:nvPr/>
        </p:nvSpPr>
        <p:spPr bwMode="auto">
          <a:xfrm>
            <a:off x="1618488" y="5806440"/>
            <a:ext cx="5440680" cy="152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Не изменяйте обстановку до прибытия ответственных лиц, если это не создаёт опасности.</a:t>
            </a:r>
            <a:endParaRPr/>
          </a:p>
        </p:txBody>
      </p:sp>
      <p:sp>
        <p:nvSpPr>
          <p:cNvPr id="35" name="Rectangle 34"/>
          <p:cNvSpPr/>
          <p:nvPr/>
        </p:nvSpPr>
        <p:spPr bwMode="auto">
          <a:xfrm>
            <a:off x="0" y="6053328"/>
            <a:ext cx="7562088" cy="557784"/>
          </a:xfrm>
          <a:prstGeom prst="rect">
            <a:avLst/>
          </a:prstGeom>
          <a:solidFill>
            <a:srgbClr val="27527A"/>
          </a:solidFill>
          <a:ln>
            <a:solidFill>
              <a:srgbClr val="275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00">
              <a:latin typeface="Calibri"/>
              <a:cs typeface="Calibri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530352" y="6172200"/>
            <a:ext cx="32004" cy="310896"/>
          </a:xfrm>
          <a:prstGeom prst="rect">
            <a:avLst/>
          </a:prstGeom>
          <a:solidFill>
            <a:srgbClr val="BE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00">
              <a:latin typeface="Calibri"/>
              <a:cs typeface="Calibri"/>
            </a:endParaRPr>
          </a:p>
        </p:txBody>
      </p:sp>
      <p:sp>
        <p:nvSpPr>
          <p:cNvPr id="37" name="TextBox 36"/>
          <p:cNvSpPr txBox="1"/>
          <p:nvPr/>
        </p:nvSpPr>
        <p:spPr bwMode="auto">
          <a:xfrm>
            <a:off x="731520" y="6163056"/>
            <a:ext cx="6301337" cy="427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Микротравма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 — 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это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тоже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инцидент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. 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Сообщайте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обо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всех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случаях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, 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включая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незначительные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на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первый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sz="1400" b="1">
                <a:solidFill>
                  <a:schemeClr val="bg1"/>
                </a:solidFill>
                <a:latin typeface="Cambria"/>
                <a:cs typeface="Cambria"/>
              </a:rPr>
              <a:t>взгляд</a:t>
            </a:r>
            <a:r>
              <a:rPr sz="1000" b="0" i="1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/>
          </a:p>
        </p:txBody>
      </p:sp>
      <p:sp>
        <p:nvSpPr>
          <p:cNvPr id="38" name="TextBox 37"/>
          <p:cNvSpPr txBox="1"/>
          <p:nvPr/>
        </p:nvSpPr>
        <p:spPr bwMode="auto">
          <a:xfrm>
            <a:off x="562356" y="6803136"/>
            <a:ext cx="6414876" cy="1219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defRPr/>
            </a:pP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Руководители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подразделений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обеспечивают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немедленную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передачу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информации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в</a:t>
            </a:r>
            <a:r>
              <a:rPr lang="ru-RU" sz="1600" b="0" i="0">
                <a:solidFill>
                  <a:srgbClr val="23282D"/>
                </a:solidFill>
                <a:latin typeface="Calibri"/>
                <a:cs typeface="Calibri"/>
              </a:rPr>
              <a:t> отдел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охраны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труда</a:t>
            </a:r>
            <a:r>
              <a:rPr lang="ru-RU" sz="1600" b="0" i="0">
                <a:solidFill>
                  <a:srgbClr val="23282D"/>
                </a:solidFill>
                <a:latin typeface="Calibri"/>
                <a:cs typeface="Calibri"/>
              </a:rPr>
              <a:t> и промышленной безопасности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и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лично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контролируют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соблюдение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настоящего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порядка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во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вверенном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подразделении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.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Отсутствие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своевременного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оповещения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расценивается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как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нарушение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требований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охраны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 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труда</a:t>
            </a:r>
            <a:r>
              <a:rPr sz="1600" b="0" i="0">
                <a:solidFill>
                  <a:srgbClr val="23282D"/>
                </a:solidFill>
                <a:latin typeface="Calibri"/>
                <a:cs typeface="Calibri"/>
              </a:rPr>
              <a:t>.</a:t>
            </a:r>
            <a:endParaRPr/>
          </a:p>
        </p:txBody>
      </p:sp>
      <p:sp>
        <p:nvSpPr>
          <p:cNvPr id="39" name="Rectangle 38"/>
          <p:cNvSpPr/>
          <p:nvPr/>
        </p:nvSpPr>
        <p:spPr bwMode="auto">
          <a:xfrm>
            <a:off x="507492" y="8075676"/>
            <a:ext cx="6492240" cy="1891588"/>
          </a:xfrm>
          <a:prstGeom prst="rect">
            <a:avLst/>
          </a:prstGeom>
          <a:solidFill>
            <a:srgbClr val="EEEAE1"/>
          </a:solidFill>
          <a:ln>
            <a:solidFill>
              <a:srgbClr val="275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00">
              <a:latin typeface="Calibri"/>
              <a:cs typeface="Calibri"/>
            </a:endParaRPr>
          </a:p>
        </p:txBody>
      </p:sp>
      <p:sp>
        <p:nvSpPr>
          <p:cNvPr id="41" name="TextBox 40"/>
          <p:cNvSpPr txBox="1"/>
          <p:nvPr/>
        </p:nvSpPr>
        <p:spPr bwMode="auto">
          <a:xfrm>
            <a:off x="731520" y="8147304"/>
            <a:ext cx="6245710" cy="170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ru-RU" sz="1400" b="1" i="0">
                <a:latin typeface="Calibri"/>
                <a:cs typeface="Calibri"/>
              </a:rPr>
              <a:t>Контакты для оповещения отдела охраны труда и промышленной безопасности</a:t>
            </a:r>
            <a:r>
              <a:rPr lang="ru-RU" sz="1400" b="1">
                <a:latin typeface="Calibri"/>
                <a:cs typeface="Calibri"/>
              </a:rPr>
              <a:t>:</a:t>
            </a:r>
            <a:endParaRPr lang="ru-RU" sz="1400" b="1" i="0">
              <a:latin typeface="Calibri"/>
              <a:cs typeface="Calibri"/>
            </a:endParaRPr>
          </a:p>
          <a:p>
            <a:pPr algn="l">
              <a:defRPr/>
            </a:pPr>
            <a:endParaRPr lang="ru-RU" sz="1400" b="1" i="0">
              <a:latin typeface="Calibri"/>
              <a:cs typeface="Calibri"/>
            </a:endParaRPr>
          </a:p>
          <a:p>
            <a:pPr algn="l">
              <a:defRPr/>
            </a:pPr>
            <a:r>
              <a:rPr lang="ru-RU" sz="1400" b="1">
                <a:latin typeface="Calibri"/>
                <a:cs typeface="Calibri"/>
              </a:rPr>
              <a:t>Начальник отдела ОТ и ПБ – Айкешева А.К.  </a:t>
            </a:r>
            <a:r>
              <a:rPr lang="en-US" sz="1400" b="1">
                <a:latin typeface="Calibri"/>
                <a:cs typeface="Calibri"/>
              </a:rPr>
              <a:t>Email</a:t>
            </a:r>
            <a:r>
              <a:rPr lang="ru-RU" sz="1400" b="1">
                <a:latin typeface="Calibri"/>
                <a:cs typeface="Calibri"/>
              </a:rPr>
              <a:t>: </a:t>
            </a:r>
            <a:r>
              <a:rPr lang="en-US" sz="1400" b="1" u="sng">
                <a:latin typeface="Calibri"/>
                <a:cs typeface="Calibri"/>
                <a:hlinkClick r:id="rId2" tooltip="mailto:a.aikesheva@aviainterior-sn.ru"/>
              </a:rPr>
              <a:t>a.aikesheva@aviainterior-sn.ru</a:t>
            </a:r>
            <a:r>
              <a:rPr lang="en-US" sz="1400" b="1">
                <a:latin typeface="Calibri"/>
                <a:cs typeface="Calibri"/>
              </a:rPr>
              <a:t>  </a:t>
            </a:r>
            <a:r>
              <a:rPr lang="ru-RU" sz="1400" b="1" i="0">
                <a:latin typeface="Calibri"/>
                <a:cs typeface="Calibri"/>
              </a:rPr>
              <a:t>Телефон:</a:t>
            </a:r>
            <a:r>
              <a:rPr lang="en-US" sz="1400" b="1" i="0">
                <a:latin typeface="Calibri"/>
                <a:cs typeface="Calibri"/>
              </a:rPr>
              <a:t> 8-916-610-71-70</a:t>
            </a:r>
            <a:r>
              <a:rPr lang="ru-RU" sz="1400" b="1" i="0">
                <a:latin typeface="Calibri"/>
                <a:cs typeface="Calibri"/>
              </a:rPr>
              <a:t> </a:t>
            </a:r>
            <a:endParaRPr lang="en-US" sz="1400" b="1" i="0">
              <a:latin typeface="Calibri"/>
              <a:cs typeface="Calibri"/>
            </a:endParaRPr>
          </a:p>
          <a:p>
            <a:pPr algn="l">
              <a:defRPr/>
            </a:pPr>
            <a:r>
              <a:rPr lang="ru-RU" sz="1400" b="1">
                <a:latin typeface="Calibri"/>
                <a:cs typeface="Calibri"/>
              </a:rPr>
              <a:t>Ведущий специалист по охране окружающей среды – Батушин А.В.</a:t>
            </a:r>
            <a:endParaRPr/>
          </a:p>
          <a:p>
            <a:pPr algn="l">
              <a:defRPr/>
            </a:pPr>
            <a:r>
              <a:rPr lang="en-US" sz="1400" b="1" i="0">
                <a:latin typeface="Calibri"/>
                <a:cs typeface="Calibri"/>
              </a:rPr>
              <a:t>Emai</a:t>
            </a:r>
            <a:r>
              <a:rPr lang="en-US" sz="1400" b="1">
                <a:latin typeface="Calibri"/>
                <a:cs typeface="Calibri"/>
              </a:rPr>
              <a:t>l</a:t>
            </a:r>
            <a:r>
              <a:rPr lang="ru-RU" sz="1400" b="1">
                <a:latin typeface="Calibri"/>
                <a:cs typeface="Calibri"/>
              </a:rPr>
              <a:t>: </a:t>
            </a:r>
            <a:r>
              <a:rPr lang="en-US" sz="1400" b="1" u="sng">
                <a:latin typeface="Calibri"/>
                <a:cs typeface="Calibri"/>
                <a:hlinkClick r:id="rId3" tooltip="mailto:a.batushin@aviainterior-sn.ru"/>
              </a:rPr>
              <a:t>a.batushin@aviainterior-sn.ru</a:t>
            </a:r>
            <a:endParaRPr lang="en-US" sz="1400" b="1">
              <a:latin typeface="Calibri"/>
              <a:cs typeface="Calibri"/>
            </a:endParaRPr>
          </a:p>
          <a:p>
            <a:pPr algn="l">
              <a:defRPr/>
            </a:pPr>
            <a:r>
              <a:rPr lang="ru-RU" sz="1400" b="1" i="0">
                <a:latin typeface="Calibri"/>
                <a:cs typeface="Calibri"/>
              </a:rPr>
              <a:t>Телефон</a:t>
            </a:r>
            <a:r>
              <a:rPr lang="ru-RU" sz="1400" b="1">
                <a:latin typeface="Calibri"/>
                <a:cs typeface="Calibri"/>
              </a:rPr>
              <a:t>: 8-929-642-61-08</a:t>
            </a:r>
            <a:endParaRPr sz="1400" b="1" i="0">
              <a:latin typeface="Calibri"/>
              <a:cs typeface="Calibri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530352" y="10085832"/>
            <a:ext cx="6492240" cy="10972"/>
          </a:xfrm>
          <a:prstGeom prst="rect">
            <a:avLst/>
          </a:prstGeom>
          <a:solidFill>
            <a:srgbClr val="BE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00">
              <a:latin typeface="Calibri"/>
              <a:cs typeface="Calibri"/>
            </a:endParaRPr>
          </a:p>
        </p:txBody>
      </p:sp>
      <p:sp>
        <p:nvSpPr>
          <p:cNvPr id="51" name="TextBox 50"/>
          <p:cNvSpPr txBox="1"/>
          <p:nvPr/>
        </p:nvSpPr>
        <p:spPr bwMode="auto">
          <a:xfrm>
            <a:off x="530352" y="10168127"/>
            <a:ext cx="4296477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Настоящая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 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памятка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 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обязательна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 к 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исполнению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 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всеми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 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сотрудниками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 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компании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.</a:t>
            </a:r>
            <a:endParaRPr/>
          </a:p>
        </p:txBody>
      </p:sp>
      <p:sp>
        <p:nvSpPr>
          <p:cNvPr id="53" name="TextBox 52"/>
          <p:cNvSpPr txBox="1"/>
          <p:nvPr/>
        </p:nvSpPr>
        <p:spPr bwMode="auto">
          <a:xfrm>
            <a:off x="6796454" y="10369296"/>
            <a:ext cx="226497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DDE3E9"/>
                </a:solidFill>
                <a:latin typeface="Calibri"/>
                <a:cs typeface="Calibri"/>
              </a:rPr>
              <a:t>1 / 2</a:t>
            </a:r>
            <a:endParaRPr/>
          </a:p>
        </p:txBody>
      </p:sp>
      <p:sp>
        <p:nvSpPr>
          <p:cNvPr id="54" name="TextBox 20"/>
          <p:cNvSpPr txBox="1"/>
          <p:nvPr/>
        </p:nvSpPr>
        <p:spPr bwMode="auto">
          <a:xfrm>
            <a:off x="566928" y="4700016"/>
            <a:ext cx="127717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000" b="1" i="0">
                <a:latin typeface="Cambria"/>
                <a:cs typeface="Cambria"/>
              </a:rPr>
              <a:t>04</a:t>
            </a:r>
            <a:endParaRPr/>
          </a:p>
        </p:txBody>
      </p:sp>
      <p:sp>
        <p:nvSpPr>
          <p:cNvPr id="55" name="TextBox 21"/>
          <p:cNvSpPr txBox="1"/>
          <p:nvPr/>
        </p:nvSpPr>
        <p:spPr bwMode="auto">
          <a:xfrm>
            <a:off x="1344168" y="4709160"/>
            <a:ext cx="77180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BE8937"/>
                </a:solidFill>
                <a:latin typeface="Calibri"/>
                <a:cs typeface="Calibri"/>
              </a:rPr>
              <a:t>☎</a:t>
            </a:r>
            <a:endParaRPr/>
          </a:p>
        </p:txBody>
      </p:sp>
      <p:sp>
        <p:nvSpPr>
          <p:cNvPr id="56" name="TextBox 22"/>
          <p:cNvSpPr txBox="1"/>
          <p:nvPr/>
        </p:nvSpPr>
        <p:spPr bwMode="auto">
          <a:xfrm>
            <a:off x="1618488" y="4681728"/>
            <a:ext cx="5394960" cy="18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7527A"/>
                </a:solidFill>
                <a:latin typeface="Calibri"/>
                <a:cs typeface="Calibri"/>
              </a:rPr>
              <a:t>Сообщите непосредственному руководителю</a:t>
            </a:r>
            <a:endParaRPr sz="1200" b="1" i="0">
              <a:solidFill>
                <a:srgbClr val="27527A"/>
              </a:solidFill>
              <a:latin typeface="Calibri"/>
              <a:cs typeface="Calibri"/>
            </a:endParaRPr>
          </a:p>
        </p:txBody>
      </p:sp>
      <p:sp>
        <p:nvSpPr>
          <p:cNvPr id="57" name="TextBox 23"/>
          <p:cNvSpPr txBox="1"/>
          <p:nvPr/>
        </p:nvSpPr>
        <p:spPr bwMode="auto">
          <a:xfrm>
            <a:off x="1618488" y="4892040"/>
            <a:ext cx="5440680" cy="152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Незамедлительно, любым доступным способом связи — лично, по телефону, сообщением.</a:t>
            </a:r>
            <a:endParaRPr/>
          </a:p>
        </p:txBody>
      </p:sp>
      <p:sp>
        <p:nvSpPr>
          <p:cNvPr id="58" name="Rectangle 24"/>
          <p:cNvSpPr/>
          <p:nvPr/>
        </p:nvSpPr>
        <p:spPr bwMode="auto">
          <a:xfrm>
            <a:off x="530352" y="5093208"/>
            <a:ext cx="6492240" cy="10972"/>
          </a:xfrm>
          <a:prstGeom prst="rect">
            <a:avLst/>
          </a:prstGeom>
          <a:solidFill>
            <a:srgbClr val="CF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00">
              <a:latin typeface="Calibri"/>
              <a:cs typeface="Calibri"/>
            </a:endParaRPr>
          </a:p>
        </p:txBody>
      </p:sp>
      <p:sp>
        <p:nvSpPr>
          <p:cNvPr id="59" name="TextBox 20"/>
          <p:cNvSpPr txBox="1"/>
          <p:nvPr/>
        </p:nvSpPr>
        <p:spPr bwMode="auto">
          <a:xfrm>
            <a:off x="566928" y="5157216"/>
            <a:ext cx="127717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000" b="1" i="0">
                <a:latin typeface="Cambria"/>
                <a:cs typeface="Cambria"/>
              </a:rPr>
              <a:t>05</a:t>
            </a:r>
            <a:endParaRPr/>
          </a:p>
        </p:txBody>
      </p:sp>
      <p:sp>
        <p:nvSpPr>
          <p:cNvPr id="60" name="TextBox 21"/>
          <p:cNvSpPr txBox="1"/>
          <p:nvPr/>
        </p:nvSpPr>
        <p:spPr bwMode="auto">
          <a:xfrm>
            <a:off x="1344168" y="5166360"/>
            <a:ext cx="77180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BE8937"/>
                </a:solidFill>
                <a:latin typeface="Calibri"/>
                <a:cs typeface="Calibri"/>
              </a:rPr>
              <a:t>⌕</a:t>
            </a:r>
            <a:endParaRPr/>
          </a:p>
        </p:txBody>
      </p:sp>
      <p:sp>
        <p:nvSpPr>
          <p:cNvPr id="61" name="TextBox 22"/>
          <p:cNvSpPr txBox="1"/>
          <p:nvPr/>
        </p:nvSpPr>
        <p:spPr bwMode="auto">
          <a:xfrm>
            <a:off x="1618488" y="5138928"/>
            <a:ext cx="5394960" cy="18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7527A"/>
                </a:solidFill>
                <a:latin typeface="Calibri"/>
                <a:cs typeface="Calibri"/>
              </a:rPr>
              <a:t>Оповестите отдел охраны труда и промышленной безопасности</a:t>
            </a:r>
            <a:endParaRPr sz="1200" b="1" i="0">
              <a:solidFill>
                <a:srgbClr val="27527A"/>
              </a:solidFill>
              <a:latin typeface="Calibri"/>
              <a:cs typeface="Calibri"/>
            </a:endParaRPr>
          </a:p>
        </p:txBody>
      </p:sp>
      <p:sp>
        <p:nvSpPr>
          <p:cNvPr id="62" name="TextBox 23"/>
          <p:cNvSpPr txBox="1"/>
          <p:nvPr/>
        </p:nvSpPr>
        <p:spPr bwMode="auto">
          <a:xfrm>
            <a:off x="1618488" y="5349240"/>
            <a:ext cx="5440680" cy="152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До окончания смены, при тяжёлых случаях — сразу, параллельно с сообщением руководителю.</a:t>
            </a:r>
            <a:endParaRPr/>
          </a:p>
        </p:txBody>
      </p:sp>
      <p:sp>
        <p:nvSpPr>
          <p:cNvPr id="63" name="Rectangle 24"/>
          <p:cNvSpPr/>
          <p:nvPr/>
        </p:nvSpPr>
        <p:spPr bwMode="auto">
          <a:xfrm>
            <a:off x="530352" y="5550408"/>
            <a:ext cx="6492240" cy="10972"/>
          </a:xfrm>
          <a:prstGeom prst="rect">
            <a:avLst/>
          </a:prstGeom>
          <a:solidFill>
            <a:srgbClr val="CF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F6F3E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7562088" cy="1060704"/>
          </a:xfrm>
          <a:prstGeom prst="rect">
            <a:avLst/>
          </a:prstGeom>
          <a:solidFill>
            <a:srgbClr val="27527A"/>
          </a:solidFill>
          <a:ln>
            <a:solidFill>
              <a:srgbClr val="275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00">
              <a:latin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530352" y="201168"/>
            <a:ext cx="1846647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BE8937"/>
                </a:solidFill>
                <a:latin typeface="Calibri"/>
                <a:cs typeface="Calibri"/>
              </a:rPr>
              <a:t>ПАМЯТКА  ·  ОХРАНА ТРУДА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530352" y="475488"/>
            <a:ext cx="1552400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FFFFFF"/>
                </a:solidFill>
                <a:latin typeface="Calibri"/>
                <a:cs typeface="Calibri"/>
              </a:rPr>
              <a:t>всем</a:t>
            </a:r>
            <a:r>
              <a:rPr sz="1000" b="0" i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0" i="0">
                <a:solidFill>
                  <a:srgbClr val="FFFFFF"/>
                </a:solidFill>
                <a:latin typeface="Calibri"/>
                <a:cs typeface="Calibri"/>
              </a:rPr>
              <a:t>сотрудникам</a:t>
            </a:r>
            <a:r>
              <a:rPr sz="1000" b="0" i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0" i="0">
                <a:solidFill>
                  <a:srgbClr val="FFFFFF"/>
                </a:solidFill>
                <a:latin typeface="Calibri"/>
                <a:cs typeface="Calibri"/>
              </a:rPr>
              <a:t>компании</a:t>
            </a:r>
            <a:endParaRPr sz="1000" b="0" i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530352" y="704088"/>
            <a:ext cx="3448550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FFFFFF"/>
                </a:solidFill>
                <a:latin typeface="Calibri"/>
                <a:cs typeface="Calibri"/>
              </a:rPr>
              <a:t>Особое внимание: руководителям структурных подразделений.</a:t>
            </a:r>
            <a:endParaRPr/>
          </a:p>
        </p:txBody>
      </p:sp>
      <p:sp>
        <p:nvSpPr>
          <p:cNvPr id="7" name="Rectangle 6"/>
          <p:cNvSpPr/>
          <p:nvPr/>
        </p:nvSpPr>
        <p:spPr bwMode="auto">
          <a:xfrm>
            <a:off x="530352" y="914400"/>
            <a:ext cx="6492240" cy="22860"/>
          </a:xfrm>
          <a:prstGeom prst="rect">
            <a:avLst/>
          </a:prstGeom>
          <a:solidFill>
            <a:srgbClr val="BE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00">
              <a:latin typeface="Calibri"/>
              <a:cs typeface="Calibri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693408" y="210312"/>
            <a:ext cx="310896" cy="310896"/>
          </a:xfrm>
          <a:prstGeom prst="rect">
            <a:avLst/>
          </a:prstGeom>
          <a:noFill/>
          <a:ln w="13970">
            <a:solidFill>
              <a:srgbClr val="BE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00">
              <a:latin typeface="Calibri"/>
              <a:cs typeface="Calibri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530352" y="10085832"/>
            <a:ext cx="6492240" cy="10972"/>
          </a:xfrm>
          <a:prstGeom prst="rect">
            <a:avLst/>
          </a:prstGeom>
          <a:solidFill>
            <a:srgbClr val="BE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00">
              <a:latin typeface="Calibri"/>
              <a:cs typeface="Calibri"/>
            </a:endParaRPr>
          </a:p>
        </p:txBody>
      </p:sp>
      <p:sp>
        <p:nvSpPr>
          <p:cNvPr id="51" name="TextBox 50"/>
          <p:cNvSpPr txBox="1"/>
          <p:nvPr/>
        </p:nvSpPr>
        <p:spPr bwMode="auto">
          <a:xfrm>
            <a:off x="530352" y="10168127"/>
            <a:ext cx="4296477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Настоящая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 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памятка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 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обязательна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 к 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исполнению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 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всеми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 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сотрудниками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 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компании</a:t>
            </a:r>
            <a:r>
              <a:rPr sz="1000" b="0" i="0">
                <a:solidFill>
                  <a:srgbClr val="5B626B"/>
                </a:solidFill>
                <a:latin typeface="Calibri"/>
                <a:cs typeface="Calibri"/>
              </a:rPr>
              <a:t>.</a:t>
            </a:r>
            <a:endParaRPr/>
          </a:p>
        </p:txBody>
      </p:sp>
      <p:sp>
        <p:nvSpPr>
          <p:cNvPr id="53" name="TextBox 52"/>
          <p:cNvSpPr txBox="1"/>
          <p:nvPr/>
        </p:nvSpPr>
        <p:spPr bwMode="auto">
          <a:xfrm>
            <a:off x="6796454" y="10369296"/>
            <a:ext cx="226497" cy="1527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DDE3E9"/>
                </a:solidFill>
                <a:latin typeface="Calibri"/>
                <a:cs typeface="Calibri"/>
              </a:rPr>
              <a:t>2 / 2</a:t>
            </a:r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30352" y="114300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27527A"/>
                </a:solidFill>
                <a:latin typeface="Cambria"/>
              </a:rPr>
              <a:t>Вызов скорой медицинской помощи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1444752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26B"/>
                </a:solidFill>
                <a:latin typeface="Cambria"/>
              </a:rPr>
              <a:t>Шаг 02 порядка действий при инциденте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1810512"/>
            <a:ext cx="7562088" cy="71323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0352" y="1856231"/>
            <a:ext cx="30175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mbria"/>
              </a:rPr>
              <a:t>103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05072" y="1856231"/>
            <a:ext cx="30175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mbria"/>
              </a:rPr>
              <a:t>112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" y="231343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скорая помощь, с мобильного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05072" y="231343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единый номер экстренных служб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47872" y="19385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или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0352" y="2724912"/>
            <a:ext cx="6492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7527A"/>
                </a:solidFill>
                <a:latin typeface="Calibri"/>
              </a:rPr>
              <a:t>В Ы З Ы В А Й Т Е   Н Е М Е Д Л Е Н Н О,   Е С Л И   Е С Т Ь   Х О Т Я   Б Ы   О Д И Н   П Р И З Н А 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0352" y="2926080"/>
            <a:ext cx="6492240" cy="10972"/>
          </a:xfrm>
          <a:prstGeom prst="rect">
            <a:avLst/>
          </a:prstGeom>
          <a:solidFill>
            <a:srgbClr val="CF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0352" y="301752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B3261E"/>
                </a:solidFill>
                <a:latin typeface="Calibri"/>
              </a:rPr>
              <a:t>✚  </a:t>
            </a:r>
            <a:r>
              <a:rPr sz="1050" b="1">
                <a:solidFill>
                  <a:srgbClr val="23282D"/>
                </a:solidFill>
                <a:latin typeface="Calibri"/>
              </a:rPr>
              <a:t>Потеря сознания</a:t>
            </a:r>
            <a:r>
              <a:rPr sz="1050" b="0">
                <a:solidFill>
                  <a:srgbClr val="23282D"/>
                </a:solidFill>
                <a:latin typeface="Calibri"/>
              </a:rPr>
              <a:t> — даже кратковременная; судороги</a:t>
            </a:r>
          </a:p>
          <a:p>
            <a:pPr algn="l">
              <a:spcAft>
                <a:spcPts val="500"/>
              </a:spcAft>
            </a:pPr>
            <a:r>
              <a:rPr sz="900" b="1">
                <a:solidFill>
                  <a:srgbClr val="B3261E"/>
                </a:solidFill>
                <a:latin typeface="Calibri"/>
              </a:rPr>
              <a:t>✚  </a:t>
            </a:r>
            <a:r>
              <a:rPr sz="1050" b="1">
                <a:solidFill>
                  <a:srgbClr val="23282D"/>
                </a:solidFill>
                <a:latin typeface="Calibri"/>
              </a:rPr>
              <a:t>Нарушение дыхания</a:t>
            </a:r>
            <a:r>
              <a:rPr sz="1050" b="0">
                <a:solidFill>
                  <a:srgbClr val="23282D"/>
                </a:solidFill>
                <a:latin typeface="Calibri"/>
              </a:rPr>
              <a:t> или его отсутствие; боль в груди</a:t>
            </a:r>
          </a:p>
          <a:p>
            <a:pPr algn="l">
              <a:spcAft>
                <a:spcPts val="500"/>
              </a:spcAft>
            </a:pPr>
            <a:r>
              <a:rPr sz="900" b="1">
                <a:solidFill>
                  <a:srgbClr val="B3261E"/>
                </a:solidFill>
                <a:latin typeface="Calibri"/>
              </a:rPr>
              <a:t>✚  </a:t>
            </a:r>
            <a:r>
              <a:rPr sz="1050" b="1">
                <a:solidFill>
                  <a:srgbClr val="23282D"/>
                </a:solidFill>
                <a:latin typeface="Calibri"/>
              </a:rPr>
              <a:t>Сильное кровотечение</a:t>
            </a:r>
            <a:r>
              <a:rPr sz="1050" b="0">
                <a:solidFill>
                  <a:srgbClr val="23282D"/>
                </a:solidFill>
                <a:latin typeface="Calibri"/>
              </a:rPr>
              <a:t> — не останавливается, пульсирует</a:t>
            </a:r>
          </a:p>
          <a:p>
            <a:pPr algn="l">
              <a:spcAft>
                <a:spcPts val="500"/>
              </a:spcAft>
            </a:pPr>
            <a:r>
              <a:rPr sz="900" b="1">
                <a:solidFill>
                  <a:srgbClr val="B3261E"/>
                </a:solidFill>
                <a:latin typeface="Calibri"/>
              </a:rPr>
              <a:t>✚  </a:t>
            </a:r>
            <a:r>
              <a:rPr sz="1050" b="1">
                <a:solidFill>
                  <a:srgbClr val="23282D"/>
                </a:solidFill>
                <a:latin typeface="Calibri"/>
              </a:rPr>
              <a:t>Травма головы, шеи, позвоночника</a:t>
            </a:r>
            <a:r>
              <a:rPr sz="1050" b="0">
                <a:solidFill>
                  <a:srgbClr val="23282D"/>
                </a:solidFill>
                <a:latin typeface="Calibri"/>
              </a:rPr>
              <a:t>; падение с высоты (стремянка, стеллаж, оснастка)</a:t>
            </a:r>
          </a:p>
          <a:p>
            <a:pPr algn="l">
              <a:spcAft>
                <a:spcPts val="500"/>
              </a:spcAft>
            </a:pPr>
            <a:r>
              <a:rPr sz="900" b="1">
                <a:solidFill>
                  <a:srgbClr val="B3261E"/>
                </a:solidFill>
                <a:latin typeface="Calibri"/>
              </a:rPr>
              <a:t>✚  </a:t>
            </a:r>
            <a:r>
              <a:rPr sz="1050" b="1">
                <a:solidFill>
                  <a:srgbClr val="23282D"/>
                </a:solidFill>
                <a:latin typeface="Calibri"/>
              </a:rPr>
              <a:t>Подозрение на перелом, вывих</a:t>
            </a:r>
            <a:r>
              <a:rPr sz="1050" b="0">
                <a:solidFill>
                  <a:srgbClr val="23282D"/>
                </a:solidFill>
                <a:latin typeface="Calibri"/>
              </a:rPr>
              <a:t>; зажатие или затягивание в механизм; ампутация</a:t>
            </a:r>
          </a:p>
          <a:p>
            <a:pPr algn="l">
              <a:spcAft>
                <a:spcPts val="500"/>
              </a:spcAft>
            </a:pPr>
            <a:r>
              <a:rPr sz="900" b="1">
                <a:solidFill>
                  <a:srgbClr val="B3261E"/>
                </a:solidFill>
                <a:latin typeface="Calibri"/>
              </a:rPr>
              <a:t>✚  </a:t>
            </a:r>
            <a:r>
              <a:rPr sz="1050" b="1">
                <a:solidFill>
                  <a:srgbClr val="23282D"/>
                </a:solidFill>
                <a:latin typeface="Calibri"/>
              </a:rPr>
              <a:t>Электротравма</a:t>
            </a:r>
            <a:r>
              <a:rPr sz="1050" b="0">
                <a:solidFill>
                  <a:srgbClr val="23282D"/>
                </a:solidFill>
                <a:latin typeface="Calibri"/>
              </a:rPr>
              <a:t> — всегда, даже при хорошем самочувствии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13632" y="301752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B3261E"/>
                </a:solidFill>
                <a:latin typeface="Calibri"/>
              </a:rPr>
              <a:t>✚  </a:t>
            </a:r>
            <a:r>
              <a:rPr sz="1050" b="1">
                <a:solidFill>
                  <a:srgbClr val="23282D"/>
                </a:solidFill>
                <a:latin typeface="Calibri"/>
              </a:rPr>
              <a:t>Ожог</a:t>
            </a:r>
            <a:r>
              <a:rPr sz="1050" b="0">
                <a:solidFill>
                  <a:srgbClr val="23282D"/>
                </a:solidFill>
                <a:latin typeface="Calibri"/>
              </a:rPr>
              <a:t> больше ладони пострадавшего; ожог лица, глаз, дыхательных путей; химический ожог</a:t>
            </a:r>
          </a:p>
          <a:p>
            <a:pPr algn="l">
              <a:spcAft>
                <a:spcPts val="500"/>
              </a:spcAft>
            </a:pPr>
            <a:r>
              <a:rPr sz="900" b="1">
                <a:solidFill>
                  <a:srgbClr val="B3261E"/>
                </a:solidFill>
                <a:latin typeface="Calibri"/>
              </a:rPr>
              <a:t>✚  </a:t>
            </a:r>
            <a:r>
              <a:rPr sz="1050" b="1">
                <a:solidFill>
                  <a:srgbClr val="23282D"/>
                </a:solidFill>
                <a:latin typeface="Calibri"/>
              </a:rPr>
              <a:t>Попадание химических веществ в глаза</a:t>
            </a:r>
            <a:r>
              <a:rPr sz="1050" b="0">
                <a:solidFill>
                  <a:srgbClr val="23282D"/>
                </a:solidFill>
                <a:latin typeface="Calibri"/>
              </a:rPr>
              <a:t>; отравление парами клеёв, растворителей, ЛКМ</a:t>
            </a:r>
          </a:p>
          <a:p>
            <a:pPr algn="l">
              <a:spcAft>
                <a:spcPts val="500"/>
              </a:spcAft>
            </a:pPr>
            <a:r>
              <a:rPr sz="900" b="1">
                <a:solidFill>
                  <a:srgbClr val="B3261E"/>
                </a:solidFill>
                <a:latin typeface="Calibri"/>
              </a:rPr>
              <a:t>✚  </a:t>
            </a:r>
            <a:r>
              <a:rPr sz="1050" b="1">
                <a:solidFill>
                  <a:srgbClr val="23282D"/>
                </a:solidFill>
                <a:latin typeface="Calibri"/>
              </a:rPr>
              <a:t>Признаки шока</a:t>
            </a:r>
            <a:r>
              <a:rPr sz="1050" b="0">
                <a:solidFill>
                  <a:srgbClr val="23282D"/>
                </a:solidFill>
                <a:latin typeface="Calibri"/>
              </a:rPr>
              <a:t>: бледность, холодный пот, спутанность сознания</a:t>
            </a:r>
          </a:p>
          <a:p>
            <a:pPr algn="l">
              <a:spcAft>
                <a:spcPts val="500"/>
              </a:spcAft>
            </a:pPr>
            <a:r>
              <a:rPr sz="900" b="1">
                <a:solidFill>
                  <a:srgbClr val="B3261E"/>
                </a:solidFill>
                <a:latin typeface="Calibri"/>
              </a:rPr>
              <a:t>✚  </a:t>
            </a:r>
            <a:r>
              <a:rPr sz="1050" b="1">
                <a:solidFill>
                  <a:srgbClr val="23282D"/>
                </a:solidFill>
                <a:latin typeface="Calibri"/>
              </a:rPr>
              <a:t>Не может передвигаться</a:t>
            </a:r>
            <a:r>
              <a:rPr sz="1050" b="0">
                <a:solidFill>
                  <a:srgbClr val="23282D"/>
                </a:solidFill>
                <a:latin typeface="Calibri"/>
              </a:rPr>
              <a:t> самостоятельно</a:t>
            </a:r>
          </a:p>
          <a:p>
            <a:pPr algn="l">
              <a:spcAft>
                <a:spcPts val="500"/>
              </a:spcAft>
            </a:pPr>
            <a:r>
              <a:rPr sz="900" b="1">
                <a:solidFill>
                  <a:srgbClr val="B3261E"/>
                </a:solidFill>
                <a:latin typeface="Calibri"/>
              </a:rPr>
              <a:t>✚  </a:t>
            </a:r>
            <a:r>
              <a:rPr sz="1050" b="1">
                <a:solidFill>
                  <a:srgbClr val="23282D"/>
                </a:solidFill>
                <a:latin typeface="Calibri"/>
              </a:rPr>
              <a:t>Резкое ухудшение самочувствия</a:t>
            </a:r>
            <a:r>
              <a:rPr sz="1050" b="0">
                <a:solidFill>
                  <a:srgbClr val="23282D"/>
                </a:solidFill>
                <a:latin typeface="Calibri"/>
              </a:rPr>
              <a:t> без травмы (признаки инсульта, инфаркта)</a:t>
            </a:r>
          </a:p>
          <a:p>
            <a:pPr algn="l">
              <a:spcAft>
                <a:spcPts val="500"/>
              </a:spcAft>
            </a:pPr>
            <a:r>
              <a:rPr sz="900" b="1">
                <a:solidFill>
                  <a:srgbClr val="B3261E"/>
                </a:solidFill>
                <a:latin typeface="Calibri"/>
              </a:rPr>
              <a:t>✚  </a:t>
            </a:r>
            <a:r>
              <a:rPr sz="1050" b="1">
                <a:solidFill>
                  <a:srgbClr val="23282D"/>
                </a:solidFill>
                <a:latin typeface="Calibri"/>
              </a:rPr>
              <a:t>Есть сомнения</a:t>
            </a:r>
            <a:r>
              <a:rPr sz="1050" b="0">
                <a:solidFill>
                  <a:srgbClr val="23282D"/>
                </a:solidFill>
                <a:latin typeface="Calibri"/>
              </a:rPr>
              <a:t> — лучше вызвать зря, чем не вызвать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5321808"/>
            <a:ext cx="7562088" cy="502920"/>
          </a:xfrm>
          <a:prstGeom prst="rect">
            <a:avLst/>
          </a:prstGeom>
          <a:solidFill>
            <a:srgbClr val="27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0352" y="5321808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Вызов скорой помощи не требует согласования с руководителем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0352" y="6035040"/>
            <a:ext cx="3154680" cy="1828800"/>
          </a:xfrm>
          <a:prstGeom prst="rect">
            <a:avLst/>
          </a:prstGeom>
          <a:solidFill>
            <a:srgbClr val="F4F6F8"/>
          </a:solidFill>
          <a:ln w="9525">
            <a:solidFill>
              <a:srgbClr val="CF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7512" y="6144768"/>
            <a:ext cx="2880360" cy="160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27527A"/>
                </a:solidFill>
                <a:latin typeface="Calibri"/>
              </a:rPr>
              <a:t>Что сообщить диспетчеру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BE8937"/>
                </a:solidFill>
                <a:latin typeface="Calibri"/>
              </a:rPr>
              <a:t>1. </a:t>
            </a:r>
            <a:r>
              <a:rPr sz="1050" b="0">
                <a:solidFill>
                  <a:srgbClr val="23282D"/>
                </a:solidFill>
                <a:latin typeface="Calibri"/>
              </a:rPr>
              <a:t>Адрес предприятия, корпус, цех / участок.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BE8937"/>
                </a:solidFill>
                <a:latin typeface="Calibri"/>
              </a:rPr>
              <a:t>2. </a:t>
            </a:r>
            <a:r>
              <a:rPr sz="1050" b="0">
                <a:solidFill>
                  <a:srgbClr val="23282D"/>
                </a:solidFill>
                <a:latin typeface="Calibri"/>
              </a:rPr>
              <a:t>Что произошло, сколько пострадавших.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BE8937"/>
                </a:solidFill>
                <a:latin typeface="Calibri"/>
              </a:rPr>
              <a:t>3. </a:t>
            </a:r>
            <a:r>
              <a:rPr sz="1050" b="0">
                <a:solidFill>
                  <a:srgbClr val="23282D"/>
                </a:solidFill>
                <a:latin typeface="Calibri"/>
              </a:rPr>
              <a:t>Состояние: в сознании или нет, дышит ли.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BE8937"/>
                </a:solidFill>
                <a:latin typeface="Calibri"/>
              </a:rPr>
              <a:t>4. </a:t>
            </a:r>
            <a:r>
              <a:rPr sz="1050" b="0">
                <a:solidFill>
                  <a:srgbClr val="23282D"/>
                </a:solidFill>
                <a:latin typeface="Calibri"/>
              </a:rPr>
              <a:t>Свои ФИО и номер телефона.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BE8937"/>
                </a:solidFill>
                <a:latin typeface="Calibri"/>
              </a:rPr>
              <a:t>5. </a:t>
            </a:r>
            <a:r>
              <a:rPr sz="1050" b="0">
                <a:solidFill>
                  <a:srgbClr val="23282D"/>
                </a:solidFill>
                <a:latin typeface="Calibri"/>
              </a:rPr>
              <a:t>Не кладите трубку первым — отвечайте на вопросы диспетчера.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67911" y="6035040"/>
            <a:ext cx="3154680" cy="1828800"/>
          </a:xfrm>
          <a:prstGeom prst="rect">
            <a:avLst/>
          </a:prstGeom>
          <a:solidFill>
            <a:srgbClr val="F4F6F8"/>
          </a:solidFill>
          <a:ln w="9525">
            <a:solidFill>
              <a:srgbClr val="CF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005072" y="6144768"/>
            <a:ext cx="2880360" cy="160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27527A"/>
                </a:solidFill>
                <a:latin typeface="Calibri"/>
              </a:rPr>
              <a:t>Действия руководителя подразделения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BE8937"/>
                </a:solidFill>
                <a:latin typeface="Calibri"/>
              </a:rPr>
              <a:t>1. </a:t>
            </a:r>
            <a:r>
              <a:rPr sz="1050" b="0">
                <a:solidFill>
                  <a:srgbClr val="23282D"/>
                </a:solidFill>
                <a:latin typeface="Calibri"/>
              </a:rPr>
              <a:t>Сообщить на КПП о вызове скорой помощи.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BE8937"/>
                </a:solidFill>
                <a:latin typeface="Calibri"/>
              </a:rPr>
              <a:t>2. </a:t>
            </a:r>
            <a:r>
              <a:rPr sz="1050" b="0">
                <a:solidFill>
                  <a:srgbClr val="23282D"/>
                </a:solidFill>
                <a:latin typeface="Calibri"/>
              </a:rPr>
              <a:t>Направить встречающего к проходной — провести бригаду до места.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BE8937"/>
                </a:solidFill>
                <a:latin typeface="Calibri"/>
              </a:rPr>
              <a:t>3. </a:t>
            </a:r>
            <a:r>
              <a:rPr sz="1050" b="0">
                <a:solidFill>
                  <a:srgbClr val="23282D"/>
                </a:solidFill>
                <a:latin typeface="Calibri"/>
              </a:rPr>
              <a:t>Обеспечить сопровождение пострадавшего в медицинскую организацию.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BE8937"/>
                </a:solidFill>
                <a:latin typeface="Calibri"/>
              </a:rPr>
              <a:t>4. </a:t>
            </a:r>
            <a:r>
              <a:rPr sz="1050" b="0">
                <a:solidFill>
                  <a:srgbClr val="23282D"/>
                </a:solidFill>
                <a:latin typeface="Calibri"/>
              </a:rPr>
              <a:t>Немедленно оповестить отдел ОТ и ПБ.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0352" y="8065008"/>
            <a:ext cx="64922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BE8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7512" y="8156448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7527A"/>
                </a:solidFill>
                <a:latin typeface="Calibri"/>
              </a:rPr>
              <a:t>Если скорая помощь не требуется (микротравма: поверхностный порез, ссадина)</a:t>
            </a:r>
          </a:p>
          <a:p>
            <a:pPr algn="l"/>
            <a:r>
              <a:rPr sz="1050" b="0">
                <a:solidFill>
                  <a:srgbClr val="23282D"/>
                </a:solidFill>
                <a:latin typeface="Calibri"/>
              </a:rPr>
              <a:t>Окажите первую помощь средствами аптечки. Направьте пострадавшего в медпункт или травмпункт </a:t>
            </a:r>
            <a:r>
              <a:rPr sz="1050" b="1">
                <a:solidFill>
                  <a:srgbClr val="23282D"/>
                </a:solidFill>
                <a:latin typeface="Calibri"/>
              </a:rPr>
              <a:t>только с сопровождающим</a:t>
            </a:r>
            <a:r>
              <a:rPr sz="1050" b="0">
                <a:solidFill>
                  <a:srgbClr val="23282D"/>
                </a:solidFill>
                <a:latin typeface="Calibri"/>
              </a:rPr>
              <a:t> — одного не отпускайте. Оповещение руководителя и отдела ОТ и ПБ (шаги 04–05) обязательно.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0352" y="914400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26B"/>
                </a:solidFill>
                <a:latin typeface="Calibri"/>
              </a:rPr>
              <a:t>Основание: ст. 228 Трудового кодекса РФ; приказ Минздрава России от 03.05.2024 № 220н «Об утверждении Порядка оказания первой помощи».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ial">
  <a:themeElements>
    <a:clrScheme name="Official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Классическая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Произвольный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dc:identifier/>
  <dc:language/>
  <cp:lastModifiedBy>Айгуль Айкешева</cp:lastModifiedBy>
  <cp:revision>4</cp:revision>
  <dcterms:created xsi:type="dcterms:W3CDTF">2013-01-27T09:14:16Z</dcterms:created>
  <dcterms:modified xsi:type="dcterms:W3CDTF">2026-08-18T13:48:49Z</dcterms:modified>
  <cp:category/>
  <cp:contentStatus/>
  <cp:version/>
</cp:coreProperties>
</file>